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title, subject, and all three team members. State that this is a Windows-only implementation despite the course covering both 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PageFaultCount on Windows is cumulative and does NOT separate soft faults (no disk) from hard faults (disk I/O). This distinction is tested by faculty.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objectives map directly to the four layers of the app: experiment engine, metric collectors, analysis module, and storage/export.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important conceptual slide. Faculty will ask: Does every page fault cause disk I/O? Answer: NO. Only hard faults do. Windows PageFaultCount includes all types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point: experiments run in a SEPARATE OS PROCESS (subprocess). Max allocation is min(256 MiB, 10% total RAM). No admin rights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top-to-bottom. Presentation → Control (ExperimentManager) → Collectors (Windows API via ctypes) + Worker subprocess (multiprocessing.Queue) → Analysis + Storage → Windows kernel at bottom. No admin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Key: workload runs in a SEPARATE OS PROCESS, not a thread. multiprocessing.Queue is the IPC mechanism. Reader thread in main process drains it continuously.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admin privileges needed. ctypes bridges Python to Windows native DLLs. sqlite3 and csv are Python stdlib — zero extra dependencies for storage and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 B: 64 MiB / 4096 = 16,384 expected fault increments during first pass. Exp C: second+ passes should show near-zero additional faults. Exp E: after del buf, working set drops but Available RAM may stay low due to standby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workload small for demo: 64 MiB, 12 s. Browser should already be open at localhost:8501. The app is running live — no screenshots needed; show the actual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97/97 tests actually run and passed — not claimed. Smoke test values are real numbers from the build machine (Windows 11, 15.4 GiB). Faculty ask: why no hard/soft split? Explain it requires Windows Perf Counters (heavier API).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Summarise: fully functional application, every feature implemented and tested. Most impactful future addition: hard-fault separation via Windows Perf Counters. Linux module would satisfy the full course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94360"/>
            <a:ext cx="10543032" cy="4389120"/>
          </a:xfrm>
          <a:prstGeom prst="roundRect">
            <a:avLst/>
          </a:prstGeom>
          <a:solidFill>
            <a:srgbClr val="102555"/>
          </a:solidFill>
          <a:ln w="317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1017727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Windows Memory Behavior
and Page-Fault Analyzer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2331720"/>
            <a:ext cx="5971032" cy="54864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10177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D0E4F4"/>
                </a:solidFill>
              </a:rPr>
              <a:t>Subject: Windows and Linux Internals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07792"/>
            <a:ext cx="10177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0E4F4"/>
                </a:solidFill>
              </a:rPr>
              <a:t>SRM Institute of Science and Technology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3401568"/>
            <a:ext cx="8714232" cy="1325880"/>
          </a:xfrm>
          <a:prstGeom prst="roundRect">
            <a:avLst/>
          </a:prstGeom>
          <a:solidFill>
            <a:srgbClr val="1F77B4"/>
          </a:solidFill>
          <a:ln w="1905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3474720"/>
            <a:ext cx="8348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BECF"/>
                </a:solidFill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803904"/>
            <a:ext cx="83484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FFFFFF"/>
                </a:solidFill>
              </a:rPr>
              <a:t>Akash S  –  RA2312703010006
Homesh Krishnan U  –  RA2312703010022
Mohammed Yasir  –  RA2312703010032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88952" cy="19202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62940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0E4F4"/>
                </a:solidFill>
              </a:rPr>
              <a:t>Department of Computing Technologies  |  Academic Year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25603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3268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D1B3E"/>
                </a:solidFill>
              </a:rPr>
              <a:t>Memory Management in Modern Operating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BECF"/>
                </a:solidFill>
              </a:rPr>
              <a:t>Physical vs Virtual 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81912"/>
            <a:ext cx="11640312" cy="20116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645920"/>
            <a:ext cx="3794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▸  Every process gets its own isolated virtual address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92808"/>
            <a:ext cx="3794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▸  Physical RAM is shared across ALL processes by the 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139696"/>
            <a:ext cx="3794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▸  Virtual pages are mapped to physical frames on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86584"/>
            <a:ext cx="35935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  –  Not all virtual pages need to be RAM-resident at once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633472"/>
            <a:ext cx="3794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▸  Windows demand-paging: pages brought in only on first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2880360"/>
            <a:ext cx="35935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  –  This first-access event is the fundamental page 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298448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BECF"/>
                </a:solidFill>
              </a:rPr>
              <a:t>The Page Fault Mechanism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581912"/>
            <a:ext cx="11640312" cy="20116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645920"/>
            <a:ext cx="3794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▸  CPU accesses address not mapped → hardware exception raised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892808"/>
            <a:ext cx="3794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▸  Windows Memory Manager intercepts and resolves the 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139696"/>
            <a:ext cx="3794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▸  Resolution may be disk-free (soft) or need disk I/O (hard)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386584"/>
            <a:ext cx="35935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  –  Soft: zero-fill, standby list, copy-on-write — no disk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2633472"/>
            <a:ext cx="35935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  –  Hard: page read from pagefile — actual disk I/O occurs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880360"/>
            <a:ext cx="3794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▸  Windows PageFaultCount counts ALL types together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298448"/>
            <a:ext cx="3639312" cy="4983480"/>
          </a:xfrm>
          <a:prstGeom prst="roundRect">
            <a:avLst/>
          </a:prstGeom>
          <a:solidFill>
            <a:srgbClr val="102555"/>
          </a:solidFill>
          <a:ln w="1905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389888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7F0E"/>
                </a:solidFill>
              </a:rPr>
              <a:t>Why This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1755648"/>
            <a:ext cx="3419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▸  Memory is the #1 performance bottleneck in most workloads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2121408"/>
            <a:ext cx="3419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▸  Different access patterns cause measurably different fault activity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2487168"/>
            <a:ext cx="3419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▸  Task Manager shows totals — not behavior over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2852927"/>
            <a:ext cx="3419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▸  Controlled experiments reveal OS memory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3218687"/>
            <a:ext cx="3419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▸  Critical for optimizing real-world software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584447"/>
            <a:ext cx="3419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▸  Pagefile activity is invisible to most developers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Problem Statement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25603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3268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D1B3E"/>
                </a:solidFill>
              </a:rPr>
              <a:t>Research question: How do memory allocation and access patterns affect page-fault activity on Windows?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98448"/>
            <a:ext cx="11640312" cy="1078992"/>
          </a:xfrm>
          <a:prstGeom prst="roundRect">
            <a:avLst/>
          </a:prstGeom>
          <a:solidFill>
            <a:srgbClr val="3A0A0A"/>
          </a:solidFill>
          <a:ln w="254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7F0E"/>
                </a:solidFill>
              </a:rPr>
              <a:t>⚠ 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0E4F4"/>
                </a:solidFill>
              </a:rPr>
              <a:t>Standard monitoring tools (Task Manager, Resource Monitor) report instantaneous totals but do not reveal how different memory allocation strategies influence working-set growth, page-fault accumulation, or physical RAM pressure over time.  No built-in tool runs controlled workloads to isolate these effects.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14600"/>
            <a:ext cx="2788920" cy="2834640"/>
          </a:xfrm>
          <a:prstGeom prst="roundRect">
            <a:avLst/>
          </a:prstGeom>
          <a:solidFill>
            <a:srgbClr val="1F77B4"/>
          </a:solidFill>
          <a:ln w="1524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596896"/>
            <a:ext cx="258775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🔬 Experiment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926080"/>
            <a:ext cx="2569463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999232"/>
            <a:ext cx="258775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0E4F4"/>
                </a:solidFill>
              </a:rPr>
              <a:t>Run 5 controlled workloads:
Allocation · Sequential · Repeated
Random · Release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45535" y="2514600"/>
            <a:ext cx="2788920" cy="2834640"/>
          </a:xfrm>
          <a:prstGeom prst="roundRect">
            <a:avLst/>
          </a:prstGeom>
          <a:solidFill>
            <a:srgbClr val="0A5A4A"/>
          </a:solidFill>
          <a:ln w="1524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5263" y="2596896"/>
            <a:ext cx="258775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📊 Measure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55263" y="2926080"/>
            <a:ext cx="2569463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5263" y="2999232"/>
            <a:ext cx="258775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0E4F4"/>
                </a:solidFill>
              </a:rPr>
              <a:t>Per-interval capture of:
Working Set · Private Bytes
PageFaultCount · Available RAM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1" y="2514600"/>
            <a:ext cx="2788920" cy="2834640"/>
          </a:xfrm>
          <a:prstGeom prst="roundRect">
            <a:avLst/>
          </a:prstGeom>
          <a:solidFill>
            <a:srgbClr val="4A106A"/>
          </a:solidFill>
          <a:ln w="1524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79" y="2596896"/>
            <a:ext cx="258775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📉 Analyse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2926080"/>
            <a:ext cx="2569463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79" y="2999232"/>
            <a:ext cx="258775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0E4F4"/>
                </a:solidFill>
              </a:rPr>
              <a:t>Compute fault Δ and fault rate
Plotly charts: trend, bar, overlay
Side-by-side comparison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7" y="2514600"/>
            <a:ext cx="2788920" cy="2834640"/>
          </a:xfrm>
          <a:prstGeom prst="roundRect">
            <a:avLst/>
          </a:prstGeom>
          <a:solidFill>
            <a:srgbClr val="3A3A00"/>
          </a:solidFill>
          <a:ln w="1524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7695" y="2596896"/>
            <a:ext cx="258775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💾 Persist &amp; Export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5" y="2926080"/>
            <a:ext cx="2569463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97695" y="2999232"/>
            <a:ext cx="258775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0E4F4"/>
                </a:solidFill>
              </a:rPr>
              <a:t>SQLite (WAL mode) for all data
CSV export: summaries + samples
Delete history with confirmation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Operating System Memory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25603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3268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D1B3E"/>
                </a:solidFill>
              </a:rPr>
              <a:t>Key Windows internals underpinning the application's measurements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98448"/>
            <a:ext cx="2240280" cy="329184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Working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298448"/>
            <a:ext cx="5715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Physical pages currently mapped into the process. Reported by GetProcessMemoryInfo as WorkingSetSize. Evicted pages leave the working set; re-accessing them causes a fault.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231136"/>
            <a:ext cx="2240280" cy="329184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Private Bytes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231136"/>
            <a:ext cx="5715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Virtual memory committed exclusively to this process (PagefileUsage). Backed by pagefile or physical RAM. A process can have large private bytes but a small working 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163824"/>
            <a:ext cx="2240280" cy="329184"/>
          </a:xfrm>
          <a:prstGeom prst="round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Virtual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163824"/>
            <a:ext cx="5715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Total user-mode virtual address space reserved/committed. Can exceed RAM; only accessed pages consume physical memory via demand-paging.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096512"/>
            <a:ext cx="2240280" cy="329184"/>
          </a:xfrm>
          <a:prstGeom prst="round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Page Fault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096512"/>
            <a:ext cx="5715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Cumulative DWORD counter (PageFaultCount). Incremented on every page access not currently in the working set. Counts soft faults AND hard faults — cannot distinguish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1298448"/>
            <a:ext cx="3337560" cy="4407408"/>
          </a:xfrm>
          <a:prstGeom prst="roundRect">
            <a:avLst/>
          </a:prstGeom>
          <a:solidFill>
            <a:srgbClr val="102555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1389888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BECF"/>
                </a:solidFill>
              </a:rPr>
              <a:t>Page Fault Resolution Types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05088" y="1737360"/>
            <a:ext cx="3218688" cy="274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41664" y="17647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176479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Disk I/O?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05088" y="2029968"/>
            <a:ext cx="3218688" cy="713232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0808" y="206654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A02C"/>
                </a:solidFill>
              </a:rPr>
              <a:t>Zero-demand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066544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A02C"/>
                </a:solidFill>
              </a:rPr>
              <a:t>❌  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2304288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New private page; OS zero-fills without reading disk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05088" y="2761488"/>
            <a:ext cx="3218688" cy="713232"/>
          </a:xfrm>
          <a:prstGeom prst="rect">
            <a:avLst/>
          </a:prstGeom>
          <a:solidFill>
            <a:srgbClr val="0D1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0808" y="279806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7BECF"/>
                </a:solidFill>
              </a:rPr>
              <a:t>Soft fault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798064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A02C"/>
                </a:solidFill>
              </a:rPr>
              <a:t>❌  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808" y="3035808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Page on standby list; re-mapped into working set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05088" y="3493008"/>
            <a:ext cx="3218688" cy="713232"/>
          </a:xfrm>
          <a:prstGeom prst="rect">
            <a:avLst/>
          </a:prstGeom>
          <a:solidFill>
            <a:srgbClr val="12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50808" y="352958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67BD"/>
                </a:solidFill>
              </a:rPr>
              <a:t>Copy-on-write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3529584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A02C"/>
                </a:solidFill>
              </a:rPr>
              <a:t>❌  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0808" y="3767328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Shared page copied to private — no disk read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05088" y="4224528"/>
            <a:ext cx="3218688" cy="713232"/>
          </a:xfrm>
          <a:prstGeom prst="rect">
            <a:avLst/>
          </a:prstGeom>
          <a:solidFill>
            <a:srgbClr val="0D1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0808" y="426110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7F0E"/>
                </a:solidFill>
              </a:rPr>
              <a:t>Hard fault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261104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7F0E"/>
                </a:solidFill>
              </a:rPr>
              <a:t>✅  Yes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0808" y="4498848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Page read from pagefile or mapped file — disk I/O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5010912"/>
            <a:ext cx="3218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7F0E"/>
                </a:solidFill>
              </a:rPr>
              <a:t>⚠ PageFaultCount counts ALL types — cannot separate hard from soft faults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Proposed System &amp;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25603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3268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D1B3E"/>
                </a:solidFill>
              </a:rPr>
              <a:t>A controlled-experiment platform — goes beyond passive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0E4F4"/>
                </a:solidFill>
              </a:rPr>
              <a:t>The application deliberately induces measurable memory-management activity and records the Windows OS response at every configurable sampling interval (0.5 s – 60 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737360"/>
            <a:ext cx="3730752" cy="2176272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828800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🖥️ System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167128"/>
            <a:ext cx="3511296" cy="20116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231136"/>
            <a:ext cx="352958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RAM · CPU · pagefile gauges
Virtual memory · kernel counters
Rolling trend charts (120 pts)
GlobalMemoryStatusEx + GetPerformanceInfo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23944" y="1737360"/>
            <a:ext cx="3730752" cy="2176272"/>
          </a:xfrm>
          <a:prstGeom prst="roundRect">
            <a:avLst/>
          </a:prstGeom>
          <a:solidFill>
            <a:srgbClr val="0A555A"/>
          </a:solidFill>
          <a:ln w="1270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2" y="1828800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🔍 Process Inspector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2167128"/>
            <a:ext cx="3511296" cy="20116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672" y="2231136"/>
            <a:ext cx="352958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Search &amp; select any running PID
Working set · private bytes
PageFaultCount · pool usage
GetProcessMemoryInfo (PMCEX)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1737360"/>
            <a:ext cx="3730752" cy="2176272"/>
          </a:xfrm>
          <a:prstGeom prst="roundRect">
            <a:avLst/>
          </a:prstGeom>
          <a:solidFill>
            <a:srgbClr val="4A106A"/>
          </a:solidFill>
          <a:ln w="1270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3296" y="1828800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🧪 Memory Experiments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2167128"/>
            <a:ext cx="3511296" cy="20116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2231136"/>
            <a:ext cx="352958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5 workloads (A–E) in subprocess
UI stays responsive during run
Start · Stop · Reset · Save
Alloc 4–256 MiB · 3–300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041648"/>
            <a:ext cx="3730752" cy="2176272"/>
          </a:xfrm>
          <a:prstGeom prst="roundRect">
            <a:avLst/>
          </a:prstGeom>
          <a:solidFill>
            <a:srgbClr val="5A3000"/>
          </a:solidFill>
          <a:ln w="1270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133087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📉 PF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471416"/>
            <a:ext cx="3511296" cy="20116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4535424"/>
            <a:ext cx="352958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Initial / final / delta / rate
Dual-axis: working set + faults
Per-interval Δ bar chart
Counter limitations panel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23944" y="4041648"/>
            <a:ext cx="3730752" cy="2176272"/>
          </a:xfrm>
          <a:prstGeom prst="roundRect">
            <a:avLst/>
          </a:prstGeom>
          <a:solidFill>
            <a:srgbClr val="1A4020"/>
          </a:solidFill>
          <a:ln w="1270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3672" y="4133087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⚖️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3672" y="4471416"/>
            <a:ext cx="3511296" cy="20116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33672" y="4535424"/>
            <a:ext cx="352958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Multi-select 2+ experiments
Side-by-side table + bar charts
Working-set overlay plots
Page-fault Δ overlay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73568" y="4041648"/>
            <a:ext cx="3730752" cy="2176272"/>
          </a:xfrm>
          <a:prstGeom prst="roundRect">
            <a:avLst/>
          </a:prstGeom>
          <a:solidFill>
            <a:srgbClr val="3A3A00"/>
          </a:solidFill>
          <a:ln w="1270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83296" y="4133087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💾 History &amp; Export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3296" y="4471416"/>
            <a:ext cx="3511296" cy="20116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6" y="4535424"/>
            <a:ext cx="352958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E4F4"/>
                </a:solidFill>
              </a:rPr>
              <a:t>SQLite: metadata + samples
Export summaries CSV
Export raw samples CSV
Delete with confirmation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25603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3268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D1B3E"/>
                </a:solidFill>
              </a:rPr>
              <a:t>Layer diagram derived from actual source code — real modules, real data 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234440"/>
            <a:ext cx="11823192" cy="960120"/>
          </a:xfrm>
          <a:prstGeom prst="roundRect">
            <a:avLst/>
          </a:prstGeom>
          <a:solidFill>
            <a:srgbClr val="08183A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" y="1271016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77B4"/>
                </a:solidFill>
              </a:rPr>
              <a:t>① PRESENTATION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1316736"/>
            <a:ext cx="1463040" cy="768096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app.py
Entry 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5224" y="1316736"/>
            <a:ext cx="1463040" cy="768096"/>
          </a:xfrm>
          <a:prstGeom prst="roundRect">
            <a:avLst/>
          </a:prstGeom>
          <a:solidFill>
            <a:srgbClr val="155595"/>
          </a:solidFill>
          <a:ln w="1270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Dashboard
dashboard.py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316736"/>
            <a:ext cx="1463040" cy="768096"/>
          </a:xfrm>
          <a:prstGeom prst="roundRect">
            <a:avLst/>
          </a:prstGeom>
          <a:solidFill>
            <a:srgbClr val="155595"/>
          </a:solidFill>
          <a:ln w="1270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Process
Inspector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71032" y="1316736"/>
            <a:ext cx="1463040" cy="768096"/>
          </a:xfrm>
          <a:prstGeom prst="roundRect">
            <a:avLst/>
          </a:prstGeom>
          <a:solidFill>
            <a:srgbClr val="155595"/>
          </a:solidFill>
          <a:ln w="1270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Experiments
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88936" y="1316736"/>
            <a:ext cx="1463040" cy="768096"/>
          </a:xfrm>
          <a:prstGeom prst="roundRect">
            <a:avLst/>
          </a:prstGeom>
          <a:solidFill>
            <a:srgbClr val="155595"/>
          </a:solidFill>
          <a:ln w="1270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PF Analysis
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316736"/>
            <a:ext cx="1463040" cy="768096"/>
          </a:xfrm>
          <a:prstGeom prst="roundRect">
            <a:avLst/>
          </a:prstGeom>
          <a:solidFill>
            <a:srgbClr val="155595"/>
          </a:solidFill>
          <a:ln w="1270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Comparison
Page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24744" y="1316736"/>
            <a:ext cx="1463040" cy="768096"/>
          </a:xfrm>
          <a:prstGeom prst="roundRect">
            <a:avLst/>
          </a:prstGeom>
          <a:solidFill>
            <a:srgbClr val="155595"/>
          </a:solidFill>
          <a:ln w="1270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History
Page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2313432"/>
            <a:ext cx="11823192" cy="749808"/>
          </a:xfrm>
          <a:prstGeom prst="roundRect">
            <a:avLst/>
          </a:prstGeom>
          <a:solidFill>
            <a:srgbClr val="08183A"/>
          </a:solidFill>
          <a:ln w="19050">
            <a:solidFill>
              <a:srgbClr val="946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" y="235000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9467BD"/>
                </a:solidFill>
              </a:rPr>
              <a:t>② APPLICATION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2404872"/>
            <a:ext cx="2606040" cy="566928"/>
          </a:xfrm>
          <a:prstGeom prst="roundRect">
            <a:avLst/>
          </a:prstGeom>
          <a:solidFill>
            <a:srgbClr val="9467BD"/>
          </a:solidFill>
          <a:ln w="12700">
            <a:solidFill>
              <a:srgbClr val="946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ExperimentManager
experiment_manager.py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42232" y="2404872"/>
            <a:ext cx="2606040" cy="566928"/>
          </a:xfrm>
          <a:prstGeom prst="roundRect">
            <a:avLst/>
          </a:prstGeom>
          <a:solidFill>
            <a:srgbClr val="603090"/>
          </a:solidFill>
          <a:ln w="12700">
            <a:solidFill>
              <a:srgbClr val="946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WorkloadRunner
workload_runner.py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67144" y="2404872"/>
            <a:ext cx="2606040" cy="566928"/>
          </a:xfrm>
          <a:prstGeom prst="roundRect">
            <a:avLst/>
          </a:prstGeom>
          <a:solidFill>
            <a:srgbClr val="451875"/>
          </a:solidFill>
          <a:ln w="12700">
            <a:solidFill>
              <a:srgbClr val="946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validate_config()
Input guard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92056" y="2404872"/>
            <a:ext cx="2606040" cy="566928"/>
          </a:xfrm>
          <a:prstGeom prst="roundRect">
            <a:avLst/>
          </a:prstGeom>
          <a:solidFill>
            <a:srgbClr val="351065"/>
          </a:solidFill>
          <a:ln w="12700">
            <a:solidFill>
              <a:srgbClr val="946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ExperimentDB
database.py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83940" y="2194560"/>
            <a:ext cx="32918" cy="2743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40964" y="2221991"/>
            <a:ext cx="118872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56508" y="2244851"/>
            <a:ext cx="87782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71139" y="2267712"/>
            <a:ext cx="58521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83940" y="2290572"/>
            <a:ext cx="32918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10020" y="2194560"/>
            <a:ext cx="32918" cy="2743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67044" y="2221991"/>
            <a:ext cx="118872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2588" y="2244851"/>
            <a:ext cx="87782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7219" y="2267712"/>
            <a:ext cx="58521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10020" y="2290572"/>
            <a:ext cx="32918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13140" y="2194560"/>
            <a:ext cx="32918" cy="2743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70164" y="2221991"/>
            <a:ext cx="118872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5708" y="2244851"/>
            <a:ext cx="87782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00339" y="2267712"/>
            <a:ext cx="58521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13140" y="2290572"/>
            <a:ext cx="32918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82880" y="3172968"/>
            <a:ext cx="5486400" cy="1170432"/>
          </a:xfrm>
          <a:prstGeom prst="roundRect">
            <a:avLst/>
          </a:prstGeom>
          <a:solidFill>
            <a:srgbClr val="08183A"/>
          </a:solidFill>
          <a:ln w="1905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6888" y="3209544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CA02C"/>
                </a:solidFill>
              </a:rPr>
              <a:t>③ COLLECTORS (Windows APIs)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25880" y="3273552"/>
            <a:ext cx="1554480" cy="960120"/>
          </a:xfrm>
          <a:prstGeom prst="roundRect">
            <a:avLst/>
          </a:prstGeom>
          <a:solidFill>
            <a:srgbClr val="105020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system_memory.py
GlobalMemoryStatusEx
GetPerformanceInfo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17520" y="3273552"/>
            <a:ext cx="1554480" cy="960120"/>
          </a:xfrm>
          <a:prstGeom prst="roundRect">
            <a:avLst/>
          </a:prstGeom>
          <a:solidFill>
            <a:srgbClr val="105020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process_memory.py
GetProcessMemoryInfo
PMCEX structure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09160" y="3273552"/>
            <a:ext cx="1554480" cy="960120"/>
          </a:xfrm>
          <a:prstGeom prst="roundRect">
            <a:avLst/>
          </a:prstGeom>
          <a:solidFill>
            <a:srgbClr val="105020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page_faults.py
PageFaultMonitor
interpret_delta()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70448" y="3172968"/>
            <a:ext cx="6135624" cy="1170432"/>
          </a:xfrm>
          <a:prstGeom prst="roundRect">
            <a:avLst/>
          </a:prstGeom>
          <a:solidFill>
            <a:srgbClr val="08183A"/>
          </a:solidFill>
          <a:ln w="1905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34456" y="3209544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7F0E"/>
                </a:solidFill>
              </a:rPr>
              <a:t>③ WORKER PROCESS (subprocess)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89320" y="3273552"/>
            <a:ext cx="1069848" cy="960120"/>
          </a:xfrm>
          <a:prstGeom prst="roundRect">
            <a:avLst/>
          </a:prstGeom>
          <a:solidFill>
            <a:srgbClr val="5528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allocation()
bytearray alloc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14031" y="3273552"/>
            <a:ext cx="1069848" cy="960120"/>
          </a:xfrm>
          <a:prstGeom prst="roundRect">
            <a:avLst/>
          </a:prstGeom>
          <a:solidFill>
            <a:srgbClr val="5528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sequential()
page-by-page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38744" y="3273552"/>
            <a:ext cx="1069848" cy="960120"/>
          </a:xfrm>
          <a:prstGeom prst="roundRect">
            <a:avLst/>
          </a:prstGeom>
          <a:solidFill>
            <a:srgbClr val="5528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repeated()
multi-pass XOR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63456" y="3273552"/>
            <a:ext cx="1069848" cy="960120"/>
          </a:xfrm>
          <a:prstGeom prst="roundRect">
            <a:avLst/>
          </a:prstGeom>
          <a:solidFill>
            <a:srgbClr val="5528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random()
shuffled pages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88167" y="3273552"/>
            <a:ext cx="1069848" cy="960120"/>
          </a:xfrm>
          <a:prstGeom prst="roundRect">
            <a:avLst/>
          </a:prstGeom>
          <a:solidFill>
            <a:srgbClr val="552800"/>
          </a:solidFill>
          <a:ln w="127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release()
alloc→touch→del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28346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7F0E"/>
                </a:solidFill>
              </a:rPr>
              <a:t>← Queue
(samples)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16060" y="2807208"/>
            <a:ext cx="32918" cy="2743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673084" y="3081527"/>
            <a:ext cx="118872" cy="2286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688628" y="3104387"/>
            <a:ext cx="87782" cy="2286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703259" y="3127248"/>
            <a:ext cx="58521" cy="2286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16060" y="3150108"/>
            <a:ext cx="32918" cy="2286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26740" y="3081528"/>
            <a:ext cx="32918" cy="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83764" y="3081528"/>
            <a:ext cx="118872" cy="2286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99308" y="3104388"/>
            <a:ext cx="87782" cy="2286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13939" y="3127248"/>
            <a:ext cx="58521" cy="2286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26740" y="3150108"/>
            <a:ext cx="32918" cy="2286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55940" y="3081528"/>
            <a:ext cx="32918" cy="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712964" y="3081528"/>
            <a:ext cx="118872" cy="2286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28508" y="3104388"/>
            <a:ext cx="87782" cy="2286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43139" y="3127248"/>
            <a:ext cx="58521" cy="2286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755940" y="3150108"/>
            <a:ext cx="32918" cy="2286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82880" y="4443984"/>
            <a:ext cx="5486400" cy="841248"/>
          </a:xfrm>
          <a:prstGeom prst="roundRect">
            <a:avLst/>
          </a:prstGeom>
          <a:solidFill>
            <a:srgbClr val="08183A"/>
          </a:solidFill>
          <a:ln w="1905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6888" y="448056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7BECF"/>
                </a:solidFill>
              </a:rPr>
              <a:t>④ ANALYSIS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325880" y="4535424"/>
            <a:ext cx="1554480" cy="658368"/>
          </a:xfrm>
          <a:prstGeom prst="roundRect">
            <a:avLst/>
          </a:prstGeom>
          <a:solidFill>
            <a:srgbClr val="103570"/>
          </a:solidFill>
          <a:ln w="1270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metrics.py
counter_delta · rate
format helpers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017520" y="4535424"/>
            <a:ext cx="1554480" cy="658368"/>
          </a:xfrm>
          <a:prstGeom prst="roundRect">
            <a:avLst/>
          </a:prstGeom>
          <a:solidFill>
            <a:srgbClr val="103570"/>
          </a:solidFill>
          <a:ln w="1270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comparison.py
compare_experiments
diff_summary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709160" y="4535424"/>
            <a:ext cx="1554480" cy="658368"/>
          </a:xfrm>
          <a:prstGeom prst="roundRect">
            <a:avLst/>
          </a:prstGeom>
          <a:solidFill>
            <a:srgbClr val="103570"/>
          </a:solidFill>
          <a:ln w="1270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Plotly Charts
Working Set · Avail
Fault Δ bar · Overlay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870448" y="4443984"/>
            <a:ext cx="6135624" cy="841248"/>
          </a:xfrm>
          <a:prstGeom prst="roundRect">
            <a:avLst/>
          </a:prstGeom>
          <a:solidFill>
            <a:srgbClr val="0818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34456" y="448056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</a:rPr>
              <a:t>④ STORAGE &amp; EXPORT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989320" y="4535424"/>
            <a:ext cx="1719072" cy="658368"/>
          </a:xfrm>
          <a:prstGeom prst="roundRect">
            <a:avLst/>
          </a:prstGeom>
          <a:solidFill>
            <a:srgbClr val="3A3805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database.py
SQLite WAL
experiments table + samples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90688" y="4535424"/>
            <a:ext cx="1719072" cy="658368"/>
          </a:xfrm>
          <a:prstGeom prst="roundRect">
            <a:avLst/>
          </a:prstGeom>
          <a:solidFill>
            <a:srgbClr val="3A3805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export.py
samples_to_csv
summaries_to_csv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592056" y="4535424"/>
            <a:ext cx="1719072" cy="658368"/>
          </a:xfrm>
          <a:prstGeom prst="roundRect">
            <a:avLst/>
          </a:prstGeom>
          <a:solidFill>
            <a:srgbClr val="3A3805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memory_analyzer.db
CSV downloads
(Streamlit button)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26740" y="4352544"/>
            <a:ext cx="32918" cy="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683764" y="4352544"/>
            <a:ext cx="118872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699308" y="4375403"/>
            <a:ext cx="87782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713939" y="4398264"/>
            <a:ext cx="58521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726740" y="4421123"/>
            <a:ext cx="32918" cy="2286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716060" y="4352544"/>
            <a:ext cx="32918" cy="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673084" y="4352544"/>
            <a:ext cx="118872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688628" y="4375403"/>
            <a:ext cx="87782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703259" y="4398264"/>
            <a:ext cx="58521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716060" y="4421123"/>
            <a:ext cx="32918" cy="228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82880" y="5376672"/>
            <a:ext cx="11823192" cy="822960"/>
          </a:xfrm>
          <a:prstGeom prst="roundRect">
            <a:avLst/>
          </a:prstGeom>
          <a:solidFill>
            <a:srgbClr val="1A0000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4320" y="539496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5555"/>
                </a:solidFill>
              </a:rPr>
              <a:t>WINDOWS 10/11 KERNEL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194560" y="5458968"/>
            <a:ext cx="2029968" cy="640080"/>
          </a:xfrm>
          <a:prstGeom prst="roundRect">
            <a:avLst/>
          </a:prstGeom>
          <a:solidFill>
            <a:srgbClr val="330000"/>
          </a:solidFill>
          <a:ln w="127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CCCC"/>
                </a:solidFill>
              </a:rPr>
              <a:t>kernel32.dll
GlobalMemoryStatusEx
GetSystemInfo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315968" y="5458968"/>
            <a:ext cx="2029968" cy="640080"/>
          </a:xfrm>
          <a:prstGeom prst="roundRect">
            <a:avLst/>
          </a:prstGeom>
          <a:solidFill>
            <a:srgbClr val="330000"/>
          </a:solidFill>
          <a:ln w="127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CCCC"/>
                </a:solidFill>
              </a:rPr>
              <a:t>psapi.dll
GetPerformanceInfo
GetProcessMemoryInfo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437376" y="5458968"/>
            <a:ext cx="2029968" cy="640080"/>
          </a:xfrm>
          <a:prstGeom prst="roundRect">
            <a:avLst/>
          </a:prstGeom>
          <a:solidFill>
            <a:srgbClr val="330000"/>
          </a:solidFill>
          <a:ln w="127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CCCC"/>
                </a:solidFill>
              </a:rPr>
              <a:t>Memory Manager
Demand-paging
Working-set trimming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558784" y="5458968"/>
            <a:ext cx="2029968" cy="640080"/>
          </a:xfrm>
          <a:prstGeom prst="roundRect">
            <a:avLst/>
          </a:prstGeom>
          <a:solidFill>
            <a:srgbClr val="330000"/>
          </a:solidFill>
          <a:ln w="127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CCCC"/>
                </a:solidFill>
              </a:rPr>
              <a:t>Pagefile
Standby list
Zero-page list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680192" y="5458968"/>
            <a:ext cx="2029968" cy="640080"/>
          </a:xfrm>
          <a:prstGeom prst="roundRect">
            <a:avLst/>
          </a:prstGeom>
          <a:solidFill>
            <a:srgbClr val="330000"/>
          </a:solidFill>
          <a:ln w="127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CCCC"/>
                </a:solidFill>
              </a:rPr>
              <a:t>ctypes bridge
Python→WinAPI
(no admin needed)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83940" y="5303520"/>
            <a:ext cx="32918" cy="-18288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140964" y="5285232"/>
            <a:ext cx="118872" cy="2286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156508" y="5308092"/>
            <a:ext cx="87782" cy="2286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171139" y="5330952"/>
            <a:ext cx="58521" cy="2286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183940" y="5353812"/>
            <a:ext cx="32918" cy="2286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Application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25603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3268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D1B3E"/>
                </a:solidFill>
              </a:rPr>
              <a:t>Step-by-step flow: launch → data collection → experiment → analysis → export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60704"/>
            <a:ext cx="365760" cy="310896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389888"/>
            <a:ext cx="1280160" cy="914400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359152"/>
            <a:ext cx="1280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streamlit run app.py
localhost:8501
ExperimentManager
initialised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7904" y="1867204"/>
            <a:ext cx="18287" cy="3291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36192" y="1824228"/>
            <a:ext cx="22860" cy="11887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59052" y="1839772"/>
            <a:ext cx="22860" cy="8778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81912" y="1854403"/>
            <a:ext cx="22860" cy="58521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04772" y="1867204"/>
            <a:ext cx="22860" cy="3291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48255" y="1060704"/>
            <a:ext cx="365760" cy="310896"/>
          </a:xfrm>
          <a:prstGeom prst="roundRect">
            <a:avLst/>
          </a:prstGeom>
          <a:solidFill>
            <a:srgbClr val="17BEC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91056" y="1389888"/>
            <a:ext cx="1280160" cy="914400"/>
          </a:xfrm>
          <a:prstGeom prst="roundRect">
            <a:avLst/>
          </a:prstGeom>
          <a:solidFill>
            <a:srgbClr val="17BEC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1056" y="2359152"/>
            <a:ext cx="1280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collect_system_memory()
GlobalMemoryStatusEx
GetPerformanceInfo
Gauges + charts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59" y="1867204"/>
            <a:ext cx="18287" cy="3291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98647" y="1824228"/>
            <a:ext cx="22860" cy="11887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21507" y="1839772"/>
            <a:ext cx="22860" cy="8778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44368" y="1854403"/>
            <a:ext cx="22860" cy="58521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67227" y="1867204"/>
            <a:ext cx="22860" cy="3291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10711" y="1060704"/>
            <a:ext cx="365760" cy="310896"/>
          </a:xfrm>
          <a:prstGeom prst="roundRect">
            <a:avLst/>
          </a:prstGeom>
          <a:solidFill>
            <a:srgbClr val="2CA02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53512" y="1389888"/>
            <a:ext cx="1280160" cy="914400"/>
          </a:xfrm>
          <a:prstGeom prst="roundRect">
            <a:avLst/>
          </a:prstGeom>
          <a:solidFill>
            <a:srgbClr val="2CA02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Inspect
PID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3512" y="2359152"/>
            <a:ext cx="1280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User selects PID
collect_process_memory()
GetProcessMemoryInfo
Working set shown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2816" y="1867204"/>
            <a:ext cx="18287" cy="3291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1103" y="1824228"/>
            <a:ext cx="22860" cy="11887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83964" y="1839772"/>
            <a:ext cx="22860" cy="8778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3" y="1854403"/>
            <a:ext cx="22860" cy="58521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29683" y="1867204"/>
            <a:ext cx="22860" cy="3291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73168" y="1060704"/>
            <a:ext cx="365760" cy="310896"/>
          </a:xfrm>
          <a:prstGeom prst="roundRect">
            <a:avLst/>
          </a:prstGeom>
          <a:solidFill>
            <a:srgbClr val="FF7F0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1389888"/>
            <a:ext cx="1280160" cy="914400"/>
          </a:xfrm>
          <a:prstGeom prst="roundRect">
            <a:avLst/>
          </a:prstGeom>
          <a:solidFill>
            <a:srgbClr val="FF7F0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Config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2359152"/>
            <a:ext cx="1280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Pick workload A–E
Set alloc · duration
interval · seed
validate_config()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05271" y="1867204"/>
            <a:ext cx="18287" cy="3291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23559" y="1824228"/>
            <a:ext cx="22860" cy="11887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46419" y="1839772"/>
            <a:ext cx="22860" cy="8778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79" y="1854403"/>
            <a:ext cx="22860" cy="58521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92139" y="1867204"/>
            <a:ext cx="22860" cy="3291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135624" y="1060704"/>
            <a:ext cx="365760" cy="310896"/>
          </a:xfrm>
          <a:prstGeom prst="roundRect">
            <a:avLst/>
          </a:prstGeom>
          <a:solidFill>
            <a:srgbClr val="9467B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8424" y="1389888"/>
            <a:ext cx="1280160" cy="914400"/>
          </a:xfrm>
          <a:prstGeom prst="roundRect">
            <a:avLst/>
          </a:prstGeom>
          <a:solidFill>
            <a:srgbClr val="9467B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Run
Workload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78424" y="2359152"/>
            <a:ext cx="1280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WorkloadRunner.start()
Spawns subprocess
Queue drainer thread
samples→session_state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67727" y="1867204"/>
            <a:ext cx="18287" cy="3291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86015" y="1824228"/>
            <a:ext cx="22860" cy="11887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08875" y="1839772"/>
            <a:ext cx="22860" cy="8778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031735" y="1854403"/>
            <a:ext cx="22860" cy="58521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054595" y="1867204"/>
            <a:ext cx="22860" cy="3291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498080" y="1060704"/>
            <a:ext cx="365760" cy="310896"/>
          </a:xfrm>
          <a:prstGeom prst="roundRect">
            <a:avLst/>
          </a:prstGeom>
          <a:solidFill>
            <a:srgbClr val="40008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40880" y="1389888"/>
            <a:ext cx="1280160" cy="914400"/>
          </a:xfrm>
          <a:prstGeom prst="roundRect">
            <a:avLst/>
          </a:prstGeom>
          <a:solidFill>
            <a:srgbClr val="40008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2359152"/>
            <a:ext cx="1280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_snapshot() per tick
page_fault_count
working_set_mb
Plotly rerun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30183" y="1867204"/>
            <a:ext cx="18287" cy="3291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48471" y="1824228"/>
            <a:ext cx="22860" cy="11887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71331" y="1839772"/>
            <a:ext cx="22860" cy="8778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394192" y="1854403"/>
            <a:ext cx="22860" cy="58521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17051" y="1867204"/>
            <a:ext cx="22860" cy="3291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860536" y="1060704"/>
            <a:ext cx="365760" cy="310896"/>
          </a:xfrm>
          <a:prstGeom prst="roundRect">
            <a:avLst/>
          </a:prstGeom>
          <a:solidFill>
            <a:srgbClr val="00555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03336" y="1389888"/>
            <a:ext cx="1280160" cy="914400"/>
          </a:xfrm>
          <a:prstGeom prst="roundRect">
            <a:avLst/>
          </a:prstGeom>
          <a:solidFill>
            <a:srgbClr val="00555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Finalise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03336" y="2359152"/>
            <a:ext cx="1280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finalise() called
Summary→SQLite
Fault Δ computed
Interpretation shown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92640" y="1867204"/>
            <a:ext cx="18287" cy="3291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710928" y="1824228"/>
            <a:ext cx="22860" cy="11887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733788" y="1839772"/>
            <a:ext cx="22860" cy="8778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756648" y="1854403"/>
            <a:ext cx="22860" cy="58521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779507" y="1867204"/>
            <a:ext cx="22860" cy="3291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222992" y="1060704"/>
            <a:ext cx="365760" cy="310896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765792" y="1389888"/>
            <a:ext cx="1280160" cy="91440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Export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65792" y="2359152"/>
            <a:ext cx="1280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Comparison page
Overlay charts
CSV download
st.download_button()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28600" y="4462272"/>
            <a:ext cx="11731752" cy="960120"/>
          </a:xfrm>
          <a:prstGeom prst="roundRect">
            <a:avLst/>
          </a:prstGeom>
          <a:solidFill>
            <a:srgbClr val="101040"/>
          </a:solidFill>
          <a:ln w="19050">
            <a:solidFill>
              <a:srgbClr val="946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4048" y="45354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67BD"/>
                </a:solidFill>
              </a:rPr>
              <a:t>🔧 Subprocess Architecture (Steps 5–6):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4048" y="480974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WorkloadRunner spawns multiprocessing.Process(daemon=True)  →  Workload function runs independently  →  Samples emitted via multiprocessing.Queue  →  Background reader thread drains queue into session_state  →  stop() calls process.terminate() + join(timeout=5)  →  Cancelled experiments marked in SQLite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Modules &amp;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25603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3268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D1B3E"/>
                </a:solidFill>
              </a:rPr>
              <a:t>Complete module inventory with responsibilities and technology mapping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280160"/>
            <a:ext cx="8138160" cy="32918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31673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Module /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31673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31673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Key API / Library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1627632"/>
            <a:ext cx="8138160" cy="288036"/>
          </a:xfrm>
          <a:prstGeom prst="rect">
            <a:avLst/>
          </a:prstGeom>
          <a:solidFill>
            <a:srgbClr val="10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655064"/>
            <a:ext cx="24688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17BECF"/>
                </a:solidFill>
              </a:rPr>
              <a:t>collectors/system_memory.py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655064"/>
            <a:ext cx="2880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D0E4F4"/>
                </a:solidFill>
              </a:rPr>
              <a:t>Collects RAM, pagefile, virtual memory, CPU, process/thread 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655064"/>
            <a:ext cx="24231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FF7F0E"/>
                </a:solidFill>
              </a:rPr>
              <a:t>ctypes · GlobalMemoryStatusEx · GetPerformanceInfo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1915668"/>
            <a:ext cx="8138160" cy="2880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943100"/>
            <a:ext cx="24688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17BECF"/>
                </a:solidFill>
              </a:rPr>
              <a:t>collectors/process_memory.py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943100"/>
            <a:ext cx="2880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D0E4F4"/>
                </a:solidFill>
              </a:rPr>
              <a:t>Per-process working set, private bytes, PageFaultCount, pool quota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943100"/>
            <a:ext cx="24231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FF7F0E"/>
                </a:solidFill>
              </a:rPr>
              <a:t>ctypes · GetProcessMemoryInfo · PROCESS_MEMORY_COUNTERS_EX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203704"/>
            <a:ext cx="8138160" cy="288036"/>
          </a:xfrm>
          <a:prstGeom prst="rect">
            <a:avLst/>
          </a:prstGeom>
          <a:solidFill>
            <a:srgbClr val="10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231136"/>
            <a:ext cx="24688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17BECF"/>
                </a:solidFill>
              </a:rPr>
              <a:t>collectors/page_faults.py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231136"/>
            <a:ext cx="2880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D0E4F4"/>
                </a:solidFill>
              </a:rPr>
              <a:t>PageFaultMonitor class, PageFaultSeries, interpret_page_fault_delta()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231136"/>
            <a:ext cx="24231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FF7F0E"/>
                </a:solidFill>
              </a:rPr>
              <a:t>Python dataclasses · process_memory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" y="2491740"/>
            <a:ext cx="8138160" cy="2880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519172"/>
            <a:ext cx="24688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17BECF"/>
                </a:solidFill>
              </a:rPr>
              <a:t>experiments/memory_workloads.py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2519172"/>
            <a:ext cx="2880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D0E4F4"/>
                </a:solidFill>
              </a:rPr>
              <a:t>5 workload functions running in worker process, emitting Queue samples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519172"/>
            <a:ext cx="24231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FF7F0E"/>
                </a:solidFill>
              </a:rPr>
              <a:t>multiprocessing.Queue · bytearray · ctypes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2779776"/>
            <a:ext cx="8138160" cy="288036"/>
          </a:xfrm>
          <a:prstGeom prst="rect">
            <a:avLst/>
          </a:prstGeom>
          <a:solidFill>
            <a:srgbClr val="10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2807208"/>
            <a:ext cx="24688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17BECF"/>
                </a:solidFill>
              </a:rPr>
              <a:t>experiments/workload_runner.py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2807208"/>
            <a:ext cx="2880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D0E4F4"/>
                </a:solidFill>
              </a:rPr>
              <a:t>WorkloadRunner: subprocess lifecycle, queue drain thread, cancellation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2807208"/>
            <a:ext cx="24231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FF7F0E"/>
                </a:solidFill>
              </a:rPr>
              <a:t>multiprocessing.Process · threading.Thread · threading.Event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" y="3067812"/>
            <a:ext cx="8138160" cy="2880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095244"/>
            <a:ext cx="24688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17BECF"/>
                </a:solidFill>
              </a:rPr>
              <a:t>experiments/experiment_manager.py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3095244"/>
            <a:ext cx="2880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D0E4F4"/>
                </a:solidFill>
              </a:rPr>
              <a:t>Facade: start/stop/finalise/persist, page-fault interpretation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3095244"/>
            <a:ext cx="24231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FF7F0E"/>
                </a:solidFill>
              </a:rPr>
              <a:t>WorkloadRunner · ExperimentDB · interpret_page_fault_delta()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" y="3355848"/>
            <a:ext cx="8138160" cy="288036"/>
          </a:xfrm>
          <a:prstGeom prst="rect">
            <a:avLst/>
          </a:prstGeom>
          <a:solidFill>
            <a:srgbClr val="10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3383279"/>
            <a:ext cx="24688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17BECF"/>
                </a:solidFill>
              </a:rPr>
              <a:t>analysis/metrics.py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3383279"/>
            <a:ext cx="2880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D0E4F4"/>
                </a:solidFill>
              </a:rPr>
              <a:t>Unit conversion, counter_delta, counter_rate, counter catalogue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3383279"/>
            <a:ext cx="24231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FF7F0E"/>
                </a:solidFill>
              </a:rPr>
              <a:t>Pure Python (no OS deps) — fully unit-testable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3643884"/>
            <a:ext cx="8138160" cy="2880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3671316"/>
            <a:ext cx="24688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17BECF"/>
                </a:solidFill>
              </a:rPr>
              <a:t>analysis/comparison.py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3671316"/>
            <a:ext cx="2880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D0E4F4"/>
                </a:solidFill>
              </a:rPr>
              <a:t>compare_experiments(), diff_summary(), compatibility warnings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3671316"/>
            <a:ext cx="24231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FF7F0E"/>
                </a:solidFill>
              </a:rPr>
              <a:t>Pure Python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" y="3931920"/>
            <a:ext cx="8138160" cy="288036"/>
          </a:xfrm>
          <a:prstGeom prst="rect">
            <a:avLst/>
          </a:prstGeom>
          <a:solidFill>
            <a:srgbClr val="10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3959352"/>
            <a:ext cx="24688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17BECF"/>
                </a:solidFill>
              </a:rPr>
              <a:t>storage/database.py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4640" y="3959352"/>
            <a:ext cx="2880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D0E4F4"/>
                </a:solidFill>
              </a:rPr>
              <a:t>SQLite schema, experiment CRUD, sample insert, cascade delete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6440" y="3959352"/>
            <a:ext cx="24231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FF7F0E"/>
                </a:solidFill>
              </a:rPr>
              <a:t>sqlite3 WAL mode · json · contextmanager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" y="4219956"/>
            <a:ext cx="8138160" cy="2880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4247388"/>
            <a:ext cx="24688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17BECF"/>
                </a:solidFill>
              </a:rPr>
              <a:t>storage/export.py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4640" y="4247388"/>
            <a:ext cx="2880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D0E4F4"/>
                </a:solidFill>
              </a:rPr>
              <a:t>samples_to_csv(), summaries_to_csv() for download buttons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4247388"/>
            <a:ext cx="24231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FF7F0E"/>
                </a:solidFill>
              </a:rPr>
              <a:t>csv.DictWriter · io.StringIO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1168" y="4507992"/>
            <a:ext cx="8138160" cy="288036"/>
          </a:xfrm>
          <a:prstGeom prst="rect">
            <a:avLst/>
          </a:prstGeom>
          <a:solidFill>
            <a:srgbClr val="10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4535424"/>
            <a:ext cx="24688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17BECF"/>
                </a:solidFill>
              </a:rPr>
              <a:t>ui/*.py  (7 pages)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34640" y="4535424"/>
            <a:ext cx="2880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D0E4F4"/>
                </a:solidFill>
              </a:rPr>
              <a:t>Streamlit pages: dashboard · inspector · experiments · PF · compare · history · about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06440" y="4535424"/>
            <a:ext cx="24231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FF7F0E"/>
                </a:solidFill>
              </a:rPr>
              <a:t>Streamlit · Plotly · pandas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1168" y="4796028"/>
            <a:ext cx="8138160" cy="2880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4823460"/>
            <a:ext cx="246888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17BECF"/>
                </a:solidFill>
              </a:rPr>
              <a:t>config.py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34640" y="4823460"/>
            <a:ext cx="28803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D0E4F4"/>
                </a:solidFill>
              </a:rPr>
              <a:t>Global constants: alloc limits, workload names, colours, DB path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06440" y="4823460"/>
            <a:ext cx="242316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FF7F0E"/>
                </a:solidFill>
              </a:rPr>
              <a:t>os.path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03920" y="1280160"/>
            <a:ext cx="3474720" cy="5358384"/>
          </a:xfrm>
          <a:prstGeom prst="roundRect">
            <a:avLst/>
          </a:prstGeom>
          <a:solidFill>
            <a:srgbClr val="102555"/>
          </a:solidFill>
          <a:ln w="1905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5360" y="1371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7BECF"/>
                </a:solidFill>
              </a:rPr>
              <a:t>Technology Stack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95360" y="1737360"/>
            <a:ext cx="3291840" cy="457200"/>
          </a:xfrm>
          <a:prstGeom prst="rect">
            <a:avLst/>
          </a:prstGeom>
          <a:solidFill>
            <a:srgbClr val="14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86800" y="18013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77B4"/>
                </a:solidFill>
              </a:rPr>
              <a:t>Python 3.12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18288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Language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95360" y="2240280"/>
            <a:ext cx="3291840" cy="457200"/>
          </a:xfrm>
          <a:prstGeom prst="rect">
            <a:avLst/>
          </a:prstGeom>
          <a:solidFill>
            <a:srgbClr val="14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86800" y="23042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A02C"/>
                </a:solidFill>
              </a:rPr>
              <a:t>Streamlit ≥ 1.32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52760" y="23317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Web UI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95360" y="2743200"/>
            <a:ext cx="3291840" cy="457200"/>
          </a:xfrm>
          <a:prstGeom prst="rect">
            <a:avLst/>
          </a:prstGeom>
          <a:solidFill>
            <a:srgbClr val="14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0" y="280720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7F0E"/>
                </a:solidFill>
              </a:rPr>
              <a:t>Plotly ≥ 5.19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52760" y="28346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Interactive charts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95360" y="3246120"/>
            <a:ext cx="3291840" cy="457200"/>
          </a:xfrm>
          <a:prstGeom prst="rect">
            <a:avLst/>
          </a:prstGeom>
          <a:solidFill>
            <a:srgbClr val="14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86800" y="3310127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67BD"/>
                </a:solidFill>
              </a:rPr>
              <a:t>psutil ≥ 5.9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52760" y="33375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Portable metrics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95360" y="3749039"/>
            <a:ext cx="3291840" cy="457200"/>
          </a:xfrm>
          <a:prstGeom prst="rect">
            <a:avLst/>
          </a:prstGeom>
          <a:solidFill>
            <a:srgbClr val="14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86800" y="381304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7BECF"/>
                </a:solidFill>
              </a:rPr>
              <a:t>ctypes (stdlib)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52760" y="384047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Windows API bridge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95360" y="4251959"/>
            <a:ext cx="3291840" cy="457200"/>
          </a:xfrm>
          <a:prstGeom prst="rect">
            <a:avLst/>
          </a:prstGeom>
          <a:solidFill>
            <a:srgbClr val="14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86800" y="43159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00"/>
                </a:solidFill>
              </a:rPr>
              <a:t>sqlite3 (stdlib)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52760" y="434339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Persistence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95360" y="4754879"/>
            <a:ext cx="3291840" cy="457200"/>
          </a:xfrm>
          <a:prstGeom prst="rect">
            <a:avLst/>
          </a:prstGeom>
          <a:solidFill>
            <a:srgbClr val="14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86800" y="48188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csv (stdlib)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52760" y="484631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Data export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95360" y="5257799"/>
            <a:ext cx="3291840" cy="457200"/>
          </a:xfrm>
          <a:prstGeom prst="rect">
            <a:avLst/>
          </a:prstGeom>
          <a:solidFill>
            <a:srgbClr val="14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86800" y="5321807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8888"/>
                </a:solidFill>
              </a:rPr>
              <a:t>pytest ≥ 8.0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52760" y="53492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97 tests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595360" y="5760719"/>
            <a:ext cx="3291840" cy="457200"/>
          </a:xfrm>
          <a:prstGeom prst="rect">
            <a:avLst/>
          </a:prstGeom>
          <a:solidFill>
            <a:srgbClr val="14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86800" y="5824727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FF88"/>
                </a:solidFill>
              </a:rPr>
              <a:t>pandas ≥ 2.0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652760" y="585215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UI DataFrames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Memory Experiments &amp;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25603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3268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D1B3E"/>
                </a:solidFill>
              </a:rPr>
              <a:t>5 controlled workloads — implementation, mechanisms, and expected observations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" y="1335024"/>
            <a:ext cx="402336" cy="768096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1673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77B4"/>
                </a:solidFill>
              </a:rPr>
              <a:t>Allocation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8191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Method:  bytearray(N) — commits virtual memory without deliberately accessing every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1051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Why:  Zero-demand faults from OS initialising allocator metadata; virtual size &gt; working 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335024"/>
            <a:ext cx="7516368" cy="768096"/>
          </a:xfrm>
          <a:prstGeom prst="roundRect">
            <a:avLst/>
          </a:prstGeom>
          <a:solidFill>
            <a:srgbClr val="08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37160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7BECF"/>
                </a:solidFill>
              </a:rPr>
              <a:t>Expected observation: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591056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Fault Δ small; working set grows slowly; large gap between virtual size and 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" y="2340864"/>
            <a:ext cx="402336" cy="768096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32257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A02C"/>
                </a:solidFill>
              </a:rPr>
              <a:t>Sequential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8775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Method:  Writes one byte to each page in address order, stride = page_size (4096 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1635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Why:  First touch of each page triggers a demand-zero fault; working set rises linearly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2272" y="2340864"/>
            <a:ext cx="7516368" cy="768096"/>
          </a:xfrm>
          <a:prstGeom prst="roundRect">
            <a:avLst/>
          </a:prstGeom>
          <a:solidFill>
            <a:srgbClr val="08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37744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7BECF"/>
                </a:solidFill>
              </a:rPr>
              <a:t>Expected observation: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596896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Expected Δ ≈ alloc_bytes / page_size (64 MiB → ~16 384 faults); largest Δ of all workloads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" y="3346704"/>
            <a:ext cx="402336" cy="768096"/>
          </a:xfrm>
          <a:prstGeom prst="round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2841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67BD"/>
                </a:solidFill>
              </a:rPr>
              <a:t>Repeated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59359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Method:  Touches all pages once (first pass), then XOR-reads the buffer multiple times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22191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Why:  Pass 1 generates max faults; subsequent passes: pages already resident → near-zero extra faults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62272" y="3346704"/>
            <a:ext cx="7516368" cy="768096"/>
          </a:xfrm>
          <a:prstGeom prst="roundRect">
            <a:avLst/>
          </a:prstGeom>
          <a:solidFill>
            <a:srgbClr val="08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38328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7BECF"/>
                </a:solidFill>
              </a:rPr>
              <a:t>Expected observation: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602736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Fault rate drops sharply after pass 1; working set stabilises at full allocation size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4592" y="4352544"/>
            <a:ext cx="402336" cy="768096"/>
          </a:xfrm>
          <a:prstGeom prst="round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3425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F0E"/>
                </a:solidFill>
              </a:rPr>
              <a:t>Random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9943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Method:  Shuffled page index list (configurable seed) — accesses pages in pseudorandom order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82803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Why:  Same total pages touched as sequential → similar fault Δ on uncongested RAM machine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62272" y="4352544"/>
            <a:ext cx="7516368" cy="768096"/>
          </a:xfrm>
          <a:prstGeom prst="roundRect">
            <a:avLst/>
          </a:prstGeom>
          <a:solidFill>
            <a:srgbClr val="08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3891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7BECF"/>
                </a:solidFill>
              </a:rPr>
              <a:t>Expected observation: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608576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On low-RAM systems TLB/cache miss difference observable; seed makes run reproducible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4592" y="5358384"/>
            <a:ext cx="402336" cy="76809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4009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Release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60527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Method:  Allocate → touch all pages → hold → del buf → monitor post-release for remaining duration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83387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Why:  Working set drops after release; system RAM may stay elevated (standby list effect)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62272" y="5358384"/>
            <a:ext cx="7516368" cy="768096"/>
          </a:xfrm>
          <a:prstGeom prst="roundRect">
            <a:avLst/>
          </a:prstGeom>
          <a:solidFill>
            <a:srgbClr val="08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539496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7BECF"/>
                </a:solidFill>
              </a:rPr>
              <a:t>Expected observation: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614416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Demonstrates that freeing memory ≠ immediate return to OS physical pool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" y="6400800"/>
            <a:ext cx="11859768" cy="292608"/>
          </a:xfrm>
          <a:prstGeom prst="rect">
            <a:avLst/>
          </a:prstGeom>
          <a:solidFill>
            <a:srgbClr val="102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437376"/>
            <a:ext cx="1170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Each experiment records per interval:  page_fault_count (cumulative) · working_set_mb · virtual_mem_mb · available_ram_mb · system_memory_pct  — stored in SQLite, visualised in Plotly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GUI &amp; Live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25603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3268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D1B3E"/>
                </a:solidFill>
              </a:rPr>
              <a:t>7 Streamlit pages at http://localhost:8501  —  runs without admin privileges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298448"/>
            <a:ext cx="1993392" cy="539496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🖥️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408176"/>
            <a:ext cx="4160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RAM/CPU/Pagefile gauges · virtual memory metrics · kernel counters · rolling trend 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" y="1965960"/>
            <a:ext cx="1993392" cy="539496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🔍 Process Inspector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075688"/>
            <a:ext cx="4160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Search by name · bar chart of WS/private bytes · PageFaultCount · counter definition panel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" y="2633472"/>
            <a:ext cx="1993392" cy="539496"/>
          </a:xfrm>
          <a:prstGeom prst="round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🧪 Memory Experiments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743200"/>
            <a:ext cx="4160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Sidebar config (workload, size, duration) · Start/Stop/Reset · live Plotly charts during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" y="3300984"/>
            <a:ext cx="1993392" cy="539496"/>
          </a:xfrm>
          <a:prstGeom prst="round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📉 PF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410712"/>
            <a:ext cx="4160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Fault Δ/rate metrics · dual-axis (WS + cumulative PF) · per-interval Δ bar · limitations panel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" y="3968496"/>
            <a:ext cx="1993392" cy="539496"/>
          </a:xfrm>
          <a:prstGeom prst="round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D1B3E"/>
                </a:solidFill>
              </a:rPr>
              <a:t>⚖️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078224"/>
            <a:ext cx="4160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Multi-select experiments · side-by-side table · bar charts · WS overlay · PF-Δ overlay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" y="4636008"/>
            <a:ext cx="1993392" cy="539496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D1B3E"/>
                </a:solidFill>
              </a:rPr>
              <a:t>📚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745736"/>
            <a:ext cx="4160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Summary table (pandas) · individual detail view · CSV download · delete with confirmation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" y="5303520"/>
            <a:ext cx="1993392" cy="539496"/>
          </a:xfrm>
          <a:prstGeom prst="roundRect">
            <a:avLst/>
          </a:prstGeom>
          <a:solidFill>
            <a:srgbClr val="D0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D1B3E"/>
                </a:solidFill>
              </a:rPr>
              <a:t>ℹ️ About &amp;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413248"/>
            <a:ext cx="4160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Windows concepts · page fault type table · full counter catalogue · tech stack 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65392" y="1298448"/>
            <a:ext cx="5413248" cy="4736592"/>
          </a:xfrm>
          <a:prstGeom prst="roundRect">
            <a:avLst/>
          </a:prstGeom>
          <a:solidFill>
            <a:srgbClr val="102555"/>
          </a:solidFill>
          <a:ln w="19050">
            <a:solidFill>
              <a:srgbClr val="1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389888"/>
            <a:ext cx="5193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7BECF"/>
                </a:solidFill>
              </a:rPr>
              <a:t>Live Demo Sequence  (~6 minutes)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1764792"/>
            <a:ext cx="914400" cy="36576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182880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Open Dashboard → observe RAM %, pagefile gauge, trend chart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295144"/>
            <a:ext cx="914400" cy="36576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2" y="2359151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Process Inspector → select python.exe → note PageFaultCount value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2825496"/>
            <a:ext cx="914400" cy="365760"/>
          </a:xfrm>
          <a:prstGeom prst="round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2" y="2889503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Experiments → B Sequential, 64 MiB, 12 s → click Start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3355848"/>
            <a:ext cx="914400" cy="365760"/>
          </a:xfrm>
          <a:prstGeom prst="round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2" y="3419856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Watch live working-set chart rise as pages are faulted 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3886200"/>
            <a:ext cx="914400" cy="365760"/>
          </a:xfrm>
          <a:prstGeom prst="round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1B3E"/>
                </a:solidFill>
              </a:rP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2" y="395020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After completion → PF Analysis → review fault Δ, rate, interpretation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4416552"/>
            <a:ext cx="91440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1B3E"/>
                </a:solidFill>
              </a:rPr>
              <a:t>Step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2" y="448056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Experiments → D Random, same settings → Start and complete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4946904"/>
            <a:ext cx="914400" cy="36576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2672" y="501091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Comparison → select both → overlay charts + fault Δ bar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5477256"/>
            <a:ext cx="914400" cy="365760"/>
          </a:xfrm>
          <a:prstGeom prst="roundRect">
            <a:avLst/>
          </a:prstGeom>
          <a:solidFill>
            <a:srgbClr val="D0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1B3E"/>
                </a:solidFill>
              </a:rPr>
              <a:t>Step 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62672" y="554126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History → Export All Summaries CSV → verify download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1168" y="6153912"/>
            <a:ext cx="6236208" cy="548640"/>
          </a:xfrm>
          <a:prstGeom prst="roundRect">
            <a:avLst/>
          </a:prstGeom>
          <a:solidFill>
            <a:srgbClr val="051025"/>
          </a:solidFill>
          <a:ln w="1905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624535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A02C"/>
                </a:solidFill>
              </a:rPr>
              <a:t>cd windows-memory-analyzer    →    streamlit run app.py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Testing, Results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25603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3268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D1B3E"/>
                </a:solidFill>
              </a:rPr>
              <a:t>Verified on Windows 11 Home Build 26200 · Python 3.12.1 · 15.4 GiB 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280160"/>
            <a:ext cx="4160520" cy="329184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Automated Tests — 97 / 97 Passed 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682496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7BECF"/>
                </a:solidFill>
              </a:rPr>
              <a:t>▸  test_metrics.py  (44 tests)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920240"/>
            <a:ext cx="38221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  –  bytes_to_mb/gb conversions, format helpers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121408"/>
            <a:ext cx="38221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  –  counter_delta with DWORD wrap-around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322576"/>
            <a:ext cx="38221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  –  counter_rate with zero/None guards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523744"/>
            <a:ext cx="38221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  –  fault_deltas_from_samples: empty, single, None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2761488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7BECF"/>
                </a:solidFill>
              </a:rPr>
              <a:t>▸  test_workloads.py  (15 tests)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999232"/>
            <a:ext cx="38221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  –  validate_config — all 5 workload types valid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200400"/>
            <a:ext cx="38221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  –  Boundaries: max alloc, min duration, min interval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401568"/>
            <a:ext cx="38221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  –  Reject: zero/negative alloc, unknown workload, non-numeric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3639312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7BECF"/>
                </a:solidFill>
              </a:rPr>
              <a:t>▸  test_storage.py  (22 tests)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877056"/>
            <a:ext cx="38221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  –  create/get/list/delete experiment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078224"/>
            <a:ext cx="38221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  –  Sample add, count, cascade delete on exp delete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279392"/>
            <a:ext cx="38221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  –  update_summary, update_status, multi-exp isolation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480560"/>
            <a:ext cx="38221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  –  samples_to_csv / summaries_to_csv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" y="4718304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7BECF"/>
                </a:solidFill>
              </a:rPr>
              <a:t>▸  test_comparison.py  (16 tests)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956048"/>
            <a:ext cx="38221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  –  Requires ≥ 2 experiments to 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5157216"/>
            <a:ext cx="38221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  –  Compatibility warnings for alloc/duration mismatch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5358384"/>
            <a:ext cx="382219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D0E4F4"/>
                </a:solidFill>
              </a:rPr>
              <a:t>  –  Row/chart structure, fault_rate computed from delta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1280160"/>
            <a:ext cx="3520440" cy="329184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Verified Runtime Results  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682496"/>
            <a:ext cx="3520440" cy="20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▸  Windows API smoke test (live):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1890979"/>
            <a:ext cx="3319272" cy="20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  –  Total RAM: 15 775 MiB (15.4 GiB)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2099462"/>
            <a:ext cx="3319272" cy="20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  –  Available RAM: ~7 048 MiB at idle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2307945"/>
            <a:ext cx="3319272" cy="20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  –  Page size: 4 096 B (confirmed)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2516428"/>
            <a:ext cx="3319272" cy="20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  –  Process count: ~280 processes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8" y="2724912"/>
            <a:ext cx="3319272" cy="20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  –  System cache: ~7 430 MiB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2933395"/>
            <a:ext cx="3319272" cy="20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  –  Commit total: ~13 019 MiB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225271"/>
            <a:ext cx="3520440" cy="20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▸  Self-process (python.exe) test: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3168" y="3433754"/>
            <a:ext cx="3319272" cy="20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  –  Working Set: 22.44 MiB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3168" y="3642238"/>
            <a:ext cx="3319272" cy="20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  –  PageFaultCount: 20 408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3168" y="3850721"/>
            <a:ext cx="3319272" cy="20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  –  Private Bytes: 14.78 MiB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3168" y="4059204"/>
            <a:ext cx="3319272" cy="20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  –  Error field: None 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351080"/>
            <a:ext cx="3520440" cy="20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▸  App health check: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3168" y="4559564"/>
            <a:ext cx="3319272" cy="20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  –  HTTP GET /healthz → 200 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73168" y="4768047"/>
            <a:ext cx="3319272" cy="208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E4F4"/>
                </a:solidFill>
              </a:rPr>
              <a:t>  –  Streamlit localhost:8501 ✅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1280160"/>
            <a:ext cx="3657600" cy="329184"/>
          </a:xfrm>
          <a:prstGeom prst="round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Known Limitations  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1682496"/>
            <a:ext cx="3639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7F0E"/>
                </a:solidFill>
              </a:rPr>
              <a:t>⚠  PageFaultCount does NOT split soft vs hard faults — Windows only via heavier Perf Counters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2304288"/>
            <a:ext cx="3639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7F0E"/>
                </a:solidFill>
              </a:rPr>
              <a:t>⚠  Counter is 32-bit DWORD — wraps at 2³² faults; handled in code, unlikely in short runs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926080"/>
            <a:ext cx="3639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7F0E"/>
                </a:solidFill>
              </a:rPr>
              <a:t>⚠  Dashboard auto-refresh sleeps in main thread — avoid during live experiments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547872"/>
            <a:ext cx="3639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7F0E"/>
                </a:solidFill>
              </a:rPr>
              <a:t>⚠  First subprocess spawn ~1 s overhead on Windows (spawn start method, no fork)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4169664"/>
            <a:ext cx="3639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7F0E"/>
                </a:solidFill>
              </a:rPr>
              <a:t>⚠  Protected system processes return access-denied — handled gracefully with error field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791456"/>
            <a:ext cx="3639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7F0E"/>
                </a:solidFill>
              </a:rPr>
              <a:t>⚠  Polling-based UI refresh — charts update only on each st.rerun() call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5413248"/>
            <a:ext cx="3639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7F0E"/>
                </a:solidFill>
              </a:rPr>
              <a:t>⚠  Allocation capped at min(256 MiB, 10% RAM) — intentionally conservative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Conclusion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256032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3268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D1B3E"/>
                </a:solidFill>
              </a:rPr>
              <a:t>What was achieved — and what can be extended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280160"/>
            <a:ext cx="5687568" cy="329184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What Was Achieved 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68249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✅  Complete, running Windows memory analysis app — not a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202996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✅  3 native Windows APIs integrated via ctypes without admin privileges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37744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✅  5 controlled workloads (A–E) in isolated subprocesses — UI stays responsive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72491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✅  Per-interval capture: PageFaultCount · Working Set · Private Bytes · Available 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307238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✅  Page-fault Δ and fault rate with DWORD wrap-around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341985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✅  7 Plotly visualisations: gauges · trends · dual-axis · bar · overlay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76732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✅  SQLite persistence (WAL) + CSV export for summaries and raw samples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411480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✅  Comparison page with compatibility warnings and time-series overlays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6227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✅  97 unit tests — 100% pass — metrics, validation, storage,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480974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✅  Accurate documentation: PageFaultCount ≠ disk reads, throughout UI and tests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280160"/>
            <a:ext cx="5907024" cy="329184"/>
          </a:xfrm>
          <a:prstGeom prst="round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Future Scope  🔮  (Not Implemented)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168249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67BD"/>
                </a:solidFill>
              </a:rPr>
              <a:t>🔮  Hard Fault Separation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192938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Integrate Windows Performance Counters API to separately count hard vs soft faults — the key limitation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236829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67BD"/>
                </a:solidFill>
              </a:rPr>
              <a:t>🔮  ETW Kernel Tracing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261518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Event Tracing for Windows: capture memory events at kernel resolution, sub-millisecond granularity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305409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67BD"/>
                </a:solidFill>
              </a:rPr>
              <a:t>🔮  Working-Set Breakdown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330098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QueryWorkingSet / NtQueryVirtualMemory to categorise pages by type (private, shared, mapped file)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373989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67BD"/>
                </a:solidFill>
              </a:rPr>
              <a:t>🔮  Multi-Process Experiments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3986783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Concurrent workloads across multiple PIDs to study inter-process memory pressure and eviction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442569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67BD"/>
                </a:solidFill>
              </a:rPr>
              <a:t>🔮  Statistical Baselines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4672583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Record 'golden runs'; flag statistically significant deviations across repeated experiments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511149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67BD"/>
                </a:solidFill>
              </a:rPr>
              <a:t>🔮  Linux Parity Module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5358383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D0E4F4"/>
                </a:solidFill>
              </a:rPr>
              <a:t>/proc/self/status + perf_event_open() collectors for full cross-OS comparison (complete course scope)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0" y="6373368"/>
            <a:ext cx="12188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Thank You!   |   Questions Welcome   |   Source: windows-memory-analyzer/   |   streamlit run 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