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E1DBE9C-C4BD-C8CC-0C17-794649FAEA21}">
          <p14:sldIdLst>
            <p14:sldId id="256"/>
          </p14:sldIdLst>
        </p14:section>
        <p14:section name="Part I - Foundations" id="{D26DC82B-C7F2-1244-2D95-410E61786B78}">
          <p14:sldIdLst>
            <p14:sldId id="257"/>
            <p14:sldId id="258"/>
            <p14:sldId id="259"/>
            <p14:sldId id="260"/>
          </p14:sldIdLst>
        </p14:section>
        <p14:section name="Part II - System Design" id="{A248FF94-D15E-63E9-55A8-5738C098312B}">
          <p14:sldIdLst>
            <p14:sldId id="261"/>
            <p14:sldId id="262"/>
            <p14:sldId id="263"/>
            <p14:sldId id="264"/>
            <p14:sldId id="265"/>
          </p14:sldIdLst>
        </p14:section>
        <p14:section name="Part III - Experiments &amp; Results" id="{9EEFCD9D-FD10-0DD7-243C-7D5B1EA6D787}">
          <p14:sldIdLst>
            <p14:sldId id="266"/>
            <p14:sldId id="267"/>
            <p14:sldId id="268"/>
            <p14:sldId id="269"/>
          </p14:sldIdLst>
        </p14:section>
        <p14:section name="Close" id="{5C7C815C-E4E6-29A3-1EE4-24FDA29FEF92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Yasir" userId="07fa9ea2912c14b4" providerId="LiveId" clId="{B346DD01-5A92-41A0-B072-B7A791BEEE90}"/>
    <pc:docChg chg="modSld">
      <pc:chgData name="Mohammed Yasir" userId="07fa9ea2912c14b4" providerId="LiveId" clId="{B346DD01-5A92-41A0-B072-B7A791BEEE90}" dt="2026-10-11T05:07:26.436" v="70" actId="20577"/>
      <pc:docMkLst>
        <pc:docMk/>
      </pc:docMkLst>
      <pc:sldChg chg="modSp mod">
        <pc:chgData name="Mohammed Yasir" userId="07fa9ea2912c14b4" providerId="LiveId" clId="{B346DD01-5A92-41A0-B072-B7A791BEEE90}" dt="2026-10-11T05:07:26.436" v="70" actId="20577"/>
        <pc:sldMkLst>
          <pc:docMk/>
          <pc:sldMk cId="0" sldId="256"/>
        </pc:sldMkLst>
        <pc:spChg chg="mod">
          <ac:chgData name="Mohammed Yasir" userId="07fa9ea2912c14b4" providerId="LiveId" clId="{B346DD01-5A92-41A0-B072-B7A791BEEE90}" dt="2026-10-11T05:07:26.436" v="70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115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title, subject, and all three team members. State that this is a Windows-only implementation despite the course covering both 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PageFaultCount on Windows is cumulative and does NOT separate soft faults (no disk) from hard faults (disk I/O). This distinction is tested by faculty.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objectives map directly to the four layers of the app: experiment engine, metric collectors, analysis module, and storage/export.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conceptual slide. Faculty will ask: Does every page fault cause disk I/O? Answer: NO. Only hard faults do. Windows PageFaultCount includes all types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experiments run in a SEPARATE OS PROCESS (subprocess). Max allocation is min(256 MiB, 10% total RAM). No admin rights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top-to-bottom. Presentation → Control (ExperimentManager) → Collectors (Windows API via ctypes) + Worker subprocess (multiprocessing.Queue) → Analysis + Storage → Windows kernel at bottom. No admin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workload runs in a SEPARATE OS PROCESS, not a thread. multiprocessing.Queue is the IPC mechanism. Reader thread in main process drains it continuously.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admin privileges needed. ctypes bridges Python to Windows native DLLs. sqlite3 and csv are Python stdlib — zero extra dependencies for storage and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 B: 64 MiB / 4096 = 16,384 expected fault increments during first pass. Exp C: second+ passes should show near-zero additional faults. Exp E: after del buf, working set drops but Available RAM may stay low due to standby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workload small for demo: 64 MiB, 12 s. Browser should already be open at localhost:8501. The app is running live — no screenshots needed; show the actual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97/97 tests actually run and passed — not claimed. Smoke test values are real numbers from the build machine (Windows 11, 15.4 GiB). Faculty ask: why no hard/soft split? Explain it requires Windows Perf Counters (heavier API).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fully functional application, every feature implemented and tested. Most impactful future addition: hard-fault separation via Windows Perf Counters. Linux module would satisfy the full course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to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977640"/>
            <a:ext cx="731520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480560"/>
            <a:ext cx="73152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bg1"/>
                </a:solidFill>
              </a:rPr>
              <a:t>WINDOWS MEMORY BEHAVIOR AND PAGE-FAULT ANALYZER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286000"/>
            <a:ext cx="69494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tx1"/>
                </a:solidFill>
              </a:rPr>
              <a:t>WINDOWS MEMORY BEHAVIOR AND PAGE-FAULT ANALYZER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0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tx1"/>
                </a:solidFill>
              </a:rPr>
              <a:t>WINDOWS MEMORY BEHAVIOR AND PAGE-FAULT ANALYZER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WAR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tx1"/>
                </a:solidFill>
              </a:rPr>
              <a:t>WINDOWS MEMORY BEHAVIOR AND PAGE-FAULT ANALYZER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tx1"/>
                </a:solidFill>
              </a:rPr>
              <a:t>WINDOWS MEMORY BEHAVIOR AND PAGE-FAULT ANALYZER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tx1"/>
                </a:solidFill>
              </a:rPr>
              <a:t>WINDOWS MEMORY BEHAVIOR AND PAGE-FAULT ANALYZER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75488"/>
            <a:ext cx="108813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tx1"/>
                </a:solidFill>
              </a:rPr>
              <a:t>SUBJECT: WINDOWS AND LINUX INTERNALS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tx1"/>
                </a:solidFill>
              </a:rPr>
              <a:t>SRM INSTITUTE OF SCIENCE AND TECHNOLOGY</a:t>
            </a:r>
            <a:endParaRPr lang="en-US" sz="1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9776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800" dirty="0">
                <a:solidFill>
                  <a:schemeClr val="tx1"/>
                </a:solidFill>
              </a:rPr>
              <a:t>WINDOWS MEMORY</a:t>
            </a:r>
            <a:endParaRPr lang="en-US" sz="3800" dirty="0"/>
          </a:p>
          <a:p>
            <a:pPr marL="0" indent="0" algn="l">
              <a:buNone/>
            </a:pPr>
            <a:r>
              <a:rPr lang="en-US" sz="3800" dirty="0">
                <a:solidFill>
                  <a:schemeClr val="tx1"/>
                </a:solidFill>
              </a:rPr>
              <a:t>BEHAVIOR AND</a:t>
            </a:r>
            <a:endParaRPr lang="en-US" sz="3800" dirty="0"/>
          </a:p>
          <a:p>
            <a:pPr marL="0" indent="0" algn="l">
              <a:buNone/>
            </a:pPr>
            <a:r>
              <a:rPr lang="en-US" sz="3800" dirty="0">
                <a:solidFill>
                  <a:schemeClr val="tx1"/>
                </a:solidFill>
              </a:rPr>
              <a:t>PAGE-FAULT ANALYZER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4343400"/>
            <a:ext cx="3867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chemeClr val="tx1"/>
                </a:solidFill>
              </a:rPr>
              <a:t>Presented by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4617720"/>
            <a:ext cx="4233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Akash S  –  RA2312703010006</a:t>
            </a:r>
            <a:endParaRPr lang="en-US" sz="1200" dirty="0"/>
          </a:p>
          <a:p>
            <a:pPr marL="0" indent="0" algn="r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Homesh Krishnan U  –  RA2312703010022</a:t>
            </a:r>
            <a:endParaRPr lang="en-US" sz="1200" dirty="0"/>
          </a:p>
          <a:p>
            <a:pPr marL="0" indent="0" algn="r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Mohammed Yasir  –  RA2312703010032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63840" y="5532120"/>
            <a:ext cx="3685032" cy="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0" y="5669280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chemeClr val="tx1"/>
                </a:solidFill>
              </a:rPr>
              <a:t>Department of</a:t>
            </a:r>
            <a:r>
              <a:rPr lang="en-US" sz="1100" dirty="0"/>
              <a:t> Networking </a:t>
            </a:r>
            <a:r>
              <a:rPr lang="en-US" sz="1100"/>
              <a:t>And Communication</a:t>
            </a:r>
            <a:r>
              <a:rPr lang="en-US" sz="1100">
                <a:solidFill>
                  <a:schemeClr val="tx1"/>
                </a:solidFill>
              </a:rPr>
              <a:t>s</a:t>
            </a:r>
            <a:endParaRPr lang="en-US" sz="1100" dirty="0"/>
          </a:p>
          <a:p>
            <a:pPr marL="0" indent="0" algn="r">
              <a:buNone/>
            </a:pPr>
            <a:r>
              <a:rPr lang="en-US" sz="1100" dirty="0">
                <a:solidFill>
                  <a:schemeClr val="tx1"/>
                </a:solidFill>
              </a:rPr>
              <a:t>Academic Year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28600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dirty="0">
                <a:solidFill>
                  <a:schemeClr val="bg1"/>
                </a:solidFill>
              </a:rPr>
              <a:t>FOUNDATIONS</a:t>
            </a:r>
            <a:endParaRPr lang="en-US" sz="5400" dirty="0"/>
          </a:p>
          <a:p>
            <a:pPr marL="0" indent="0" algn="l">
              <a:buNone/>
            </a:pPr>
            <a:r>
              <a:rPr lang="en-US" sz="5400" dirty="0">
                <a:solidFill>
                  <a:schemeClr val="bg1"/>
                </a:solidFill>
              </a:rPr>
              <a:t>AND PROBLEM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276148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PART 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38160" y="3840480"/>
            <a:ext cx="3410712" cy="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3977640"/>
            <a:ext cx="3410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“Not all virtual pages need to be RAM-resident at once.”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3685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chemeClr val="tx1"/>
                </a:solidFill>
              </a:rPr>
              <a:t>INTRODUCTION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0" dirty="0">
                <a:solidFill>
                  <a:schemeClr val="tx2"/>
                </a:solidFill>
              </a:rPr>
              <a:t>INTRODUCTION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Memory Management in Modern Operating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97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tx2"/>
                </a:solidFill>
              </a:rPr>
              <a:t>PHYSICAL VS VIRTUAL MEMORY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999232"/>
            <a:ext cx="338328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15468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process gets its own isolated virtual address space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Physical RAM is shared across ALL processes by the OS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Virtual pages are mapped to physical frames on demand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Not all virtual pages need to be RAM-resident at once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Windows demand-paging: pages brought in only on first access</a:t>
            </a:r>
            <a:endParaRPr lang="en-US" sz="1300" dirty="0"/>
          </a:p>
          <a:p>
            <a:pPr marL="558800" lvl="1" indent="-279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</a:rPr>
              <a:t>This first-access event is the fundamental page fault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2697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tx2"/>
                </a:solidFill>
              </a:rPr>
              <a:t>THE PAGE FAULT MECHANISM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2999232"/>
            <a:ext cx="338328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315468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CPU accesses address not mapped → hardware exception raised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Windows Memory Manager intercepts and resolves the fault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Resolution may be disk-free (soft) or need disk I/O (hard)</a:t>
            </a:r>
            <a:endParaRPr lang="en-US" sz="1300" dirty="0"/>
          </a:p>
          <a:p>
            <a:pPr marL="558800" lvl="1" indent="-279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</a:rPr>
              <a:t>Soft: zero-fill, standby list, copy-on-write — no disk</a:t>
            </a:r>
            <a:endParaRPr lang="en-US" sz="1300" dirty="0"/>
          </a:p>
          <a:p>
            <a:pPr marL="558800" lvl="1" indent="-279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accent3"/>
                </a:solidFill>
              </a:rPr>
              <a:t>Hard: page read from pagefile — actual disk I/O occurs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Windows PageFaultCount counts ALL types together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2697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tx2"/>
                </a:solidFill>
              </a:rPr>
              <a:t>WHY THIS MATTERS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2999232"/>
            <a:ext cx="338328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315468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Memory is the #1 performance bottleneck in most workloads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Different access patterns cause measurably different fault activity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Task Manager shows totals — not behavior over time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Controlled experiments reveal OS memory decisions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Critical for optimizing real-world software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Pagefile activity is invisible to most developers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3685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chemeClr val="tx1"/>
                </a:solidFill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</a:rPr>
              <a:t>Problem statement &amp; objectives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tx1"/>
                </a:solidFill>
              </a:rPr>
              <a:t>RESEARCH QUESTION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How do memory allocation and access patterns affect page-fault activity on Windows?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6916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tx1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9659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Standard monitoring tools (Task Manager, Resource Monitor) report instantaneous totals but do not reveal how different memory allocation strategies influence working-set growth, page-fault accumulation, or physical RAM pressure over time. No built-in tool runs controlled workloads to isolate these effects.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25146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9776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chemeClr val="accent1"/>
                </a:solidFill>
              </a:rPr>
              <a:t>01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Experiment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0292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Run 5 controlled workloads: Allocation · Sequential · Repeated · Random · Release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10712" y="3840480"/>
            <a:ext cx="25146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10712" y="39776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chemeClr val="accent1"/>
                </a:solidFill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410712" y="4617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Measure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10712" y="50292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Per-interval capture of Working Set · Private Bytes · PageFaultCount · Available RAM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1344" y="3840480"/>
            <a:ext cx="25146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81344" y="39776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chemeClr val="accent1"/>
                </a:solidFill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181344" y="4617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Analyse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181344" y="50292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Compute fault Δ and fault rate. Plotly charts: trend, bar, overlay. Side-by-side comparison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51976" y="3840480"/>
            <a:ext cx="25146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51976" y="39776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chemeClr val="accent1"/>
                </a:solidFill>
              </a:rPr>
              <a:t>04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951976" y="4617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Persist &amp; Export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951976" y="50292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SQLite (WAL mode) for all data. CSV export: summaries + samples. Delete history with confirmation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3685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chemeClr val="tx1"/>
                </a:solidFill>
              </a:rPr>
              <a:t>CONCEPTS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</a:rPr>
              <a:t>Operating system memory concepts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Key Windows internals underpinning the application's measurements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60350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214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Working Set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12140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Physical pages currently mapped into the process. Reported by GetProcessMemoryInfo as WorkingSetSize. Evicted pages leave the working set; re-accessing them causes a fault.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035808"/>
            <a:ext cx="60350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1455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Private Bytes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314553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Virtual memory committed exclusively to this process (PagefileUsage). Backed by pagefile or physical RAM. A process can have large private bytes but a small working set.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059936"/>
            <a:ext cx="60350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1696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Virtual Size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416966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Total user-mode virtual address space reserved/committed. Can exceed RAM; only accessed pages consume physical memory via demand-paging.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5084064"/>
            <a:ext cx="60350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5193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Page Fault Count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5193792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Cumulative DWORD counter (PageFaultCount). Incremented on every page access not currently in the working set. Counts soft faults AND hard faults — cannot distinguish them.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20116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tx1"/>
                </a:solidFill>
              </a:rPr>
              <a:t>PAGE FAULT RESOLUTION TYPES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0" y="2377440"/>
            <a:ext cx="423367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2560320"/>
            <a:ext cx="146304" cy="146304"/>
          </a:xfrm>
          <a:prstGeom prst="ellipse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0" y="2496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Zero-demand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0" y="251460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3"/>
                </a:solidFill>
              </a:rPr>
              <a:t>No disk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New private page; OS zero-fills without reading disk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0" y="3154680"/>
            <a:ext cx="423367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3337560"/>
            <a:ext cx="146304" cy="146304"/>
          </a:xfrm>
          <a:prstGeom prst="ellipse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0" y="3273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Soft fault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0" y="329184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3"/>
                </a:solidFill>
              </a:rPr>
              <a:t>No disk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3566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Page on standby list; re-mapped into working set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3931920"/>
            <a:ext cx="423367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4114800"/>
            <a:ext cx="146304" cy="146304"/>
          </a:xfrm>
          <a:prstGeom prst="ellipse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0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Copy-on-write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0" y="406908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3"/>
                </a:solidFill>
              </a:rPr>
              <a:t>No disk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589520" y="4343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Shared page copied to private — no disk read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0" y="4709160"/>
            <a:ext cx="423367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4892040"/>
            <a:ext cx="146304" cy="146304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589520" y="4828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Hard fault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241280" y="484632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tx2"/>
                </a:solidFill>
              </a:rPr>
              <a:t>Disk I/O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589520" y="5120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Page read from pagefile or mapped file — disk I/O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5623560"/>
            <a:ext cx="4233672" cy="54864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 w="9525">
            <a:solidFill>
              <a:schemeClr val="accent1"/>
            </a:solidFill>
          </a:ln>
        </p:spPr>
        <p:txBody>
          <a:bodyPr wrap="square" lIns="139700" tIns="50800" rIns="1397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PageFaultCount counts ALL types — cannot separate hard from soft faults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28600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dirty="0">
                <a:solidFill>
                  <a:schemeClr val="bg1"/>
                </a:solidFill>
              </a:rPr>
              <a:t>SYSTEM</a:t>
            </a:r>
            <a:endParaRPr lang="en-US" sz="5400" dirty="0"/>
          </a:p>
          <a:p>
            <a:pPr marL="0" indent="0" algn="l">
              <a:buNone/>
            </a:pPr>
            <a:r>
              <a:rPr lang="en-US" sz="5400" dirty="0">
                <a:solidFill>
                  <a:schemeClr val="bg1"/>
                </a:solidFill>
              </a:rPr>
              <a:t>DESIGN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276148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PART II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38160" y="3840480"/>
            <a:ext cx="3410712" cy="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3977640"/>
            <a:ext cx="3410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“Real modules, real data flows.” Derived from the actual source code.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3685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chemeClr val="tx1"/>
                </a:solidFill>
              </a:rPr>
              <a:t>SYSTEM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</a:rPr>
              <a:t>Proposed system &amp; features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 controlled-experiment platform — goes beyond passive monitoring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1645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The application deliberately induces measurable memory-management activity and records the Windows OS response at every configurable sampling interval (0.5 s – 60 s).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38328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834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System Dashboard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2461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RAM · CPU · pagefile gauges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Virtual memory · kernel counters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Rolling trend charts (120 pts)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GlobalMemoryStatusEx + GetPerformanceInfo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743200"/>
            <a:ext cx="338328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834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Process Inspector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2461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Search &amp; select any running PID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Working set · private bytes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PageFaultCount · pool usage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GetProcessMemoryInfo (PMCEX)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2743200"/>
            <a:ext cx="338328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2834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Memory Experiments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32461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5 workloads (A–E) in subprocess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UI stays responsive during run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Start · Stop · Reset · Save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Alloc 4–256 MiB · 3–300 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338328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7457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709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PF Analysis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1206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Initial / final / delta / rate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Dual-axis: working set + faults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Per-interval Δ bar chart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Counter limitations panel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4617720"/>
            <a:ext cx="338328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89120" y="47457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4709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Comparison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51206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Multi-select 2+ experiments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Side-by-side table + bar charts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Working-set overlay plots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Page-fault Δ overlay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38160" y="4617720"/>
            <a:ext cx="338328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38160" y="47457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0" y="4709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History &amp; Export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51206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SQLite: metadata + samples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Export summaries CSV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Export raw samples CSV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Delete with confirmation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3685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chemeClr val="tx1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754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326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Layer diagram derived from actual source code — real modules, real data flows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66760" y="1060704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8823960" y="9509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Data / call flow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104120" y="987552"/>
            <a:ext cx="365760" cy="146304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561320" y="9509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Separate OS process</a:t>
            </a:r>
            <a:endParaRPr lang="en-US" sz="1000" dirty="0"/>
          </a:p>
        </p:txBody>
      </p:sp>
      <p:sp>
        <p:nvSpPr>
          <p:cNvPr id="9" name="Group PRESENTATION LAYER"/>
          <p:cNvSpPr/>
          <p:nvPr/>
        </p:nvSpPr>
        <p:spPr>
          <a:xfrm>
            <a:off x="548640" y="1325880"/>
            <a:ext cx="11091672" cy="777240"/>
          </a:xfrm>
          <a:prstGeom prst="roundRect">
            <a:avLst>
              <a:gd name="adj" fmla="val 8235"/>
            </a:avLst>
          </a:prstGeom>
          <a:solidFill>
            <a:schemeClr val="accent4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399032"/>
            <a:ext cx="10817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chemeClr val="tx2"/>
                </a:solidFill>
              </a:rPr>
              <a:t>01  PRESENTATION LAYER</a:t>
            </a:r>
            <a:r>
              <a:rPr lang="en-US" sz="1000" kern="0" spc="50" dirty="0">
                <a:solidFill>
                  <a:schemeClr val="accent3"/>
                </a:solidFill>
              </a:rPr>
              <a:t>   Streamlit UI</a:t>
            </a:r>
            <a:endParaRPr lang="en-US" sz="1000" dirty="0"/>
          </a:p>
        </p:txBody>
      </p:sp>
      <p:sp>
        <p:nvSpPr>
          <p:cNvPr id="11" name="Module app.py"/>
          <p:cNvSpPr txBox="1"/>
          <p:nvPr/>
        </p:nvSpPr>
        <p:spPr>
          <a:xfrm>
            <a:off x="685800" y="1618488"/>
            <a:ext cx="1466959" cy="393192"/>
          </a:xfrm>
          <a:prstGeom prst="roundRect">
            <a:avLst>
              <a:gd name="adj" fmla="val 11628"/>
            </a:avLst>
          </a:prstGeom>
          <a:solidFill>
            <a:schemeClr val="tx1"/>
          </a:solidFill>
          <a:ln w="6350">
            <a:solidFill>
              <a:schemeClr val="tx1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1"/>
                </a:solidFill>
              </a:rPr>
              <a:t>app.py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6"/>
                </a:solidFill>
              </a:rPr>
              <a:t>Entry point</a:t>
            </a:r>
            <a:endParaRPr lang="en-US" sz="1100" dirty="0"/>
          </a:p>
        </p:txBody>
      </p:sp>
      <p:sp>
        <p:nvSpPr>
          <p:cNvPr id="12" name="Module Dashboard"/>
          <p:cNvSpPr txBox="1"/>
          <p:nvPr/>
        </p:nvSpPr>
        <p:spPr>
          <a:xfrm>
            <a:off x="2244199" y="1618488"/>
            <a:ext cx="1466959" cy="393192"/>
          </a:xfrm>
          <a:prstGeom prst="roundRect">
            <a:avLst>
              <a:gd name="adj" fmla="val 11628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Dashboard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dashboard.py</a:t>
            </a:r>
            <a:endParaRPr lang="en-US" sz="1100" dirty="0"/>
          </a:p>
        </p:txBody>
      </p:sp>
      <p:sp>
        <p:nvSpPr>
          <p:cNvPr id="13" name="Module Process Inspector"/>
          <p:cNvSpPr txBox="1"/>
          <p:nvPr/>
        </p:nvSpPr>
        <p:spPr>
          <a:xfrm>
            <a:off x="3802598" y="1618488"/>
            <a:ext cx="1466959" cy="393192"/>
          </a:xfrm>
          <a:prstGeom prst="roundRect">
            <a:avLst>
              <a:gd name="adj" fmla="val 11628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Process Inspector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Streamlit page</a:t>
            </a:r>
            <a:endParaRPr lang="en-US" sz="1100" dirty="0"/>
          </a:p>
        </p:txBody>
      </p:sp>
      <p:sp>
        <p:nvSpPr>
          <p:cNvPr id="14" name="Module Experiments"/>
          <p:cNvSpPr txBox="1"/>
          <p:nvPr/>
        </p:nvSpPr>
        <p:spPr>
          <a:xfrm>
            <a:off x="5360997" y="1618488"/>
            <a:ext cx="1466959" cy="393192"/>
          </a:xfrm>
          <a:prstGeom prst="roundRect">
            <a:avLst>
              <a:gd name="adj" fmla="val 11628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Experiments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Streamlit page</a:t>
            </a:r>
            <a:endParaRPr lang="en-US" sz="1100" dirty="0"/>
          </a:p>
        </p:txBody>
      </p:sp>
      <p:sp>
        <p:nvSpPr>
          <p:cNvPr id="15" name="Module PF Analysis"/>
          <p:cNvSpPr txBox="1"/>
          <p:nvPr/>
        </p:nvSpPr>
        <p:spPr>
          <a:xfrm>
            <a:off x="6919395" y="1618488"/>
            <a:ext cx="1466959" cy="393192"/>
          </a:xfrm>
          <a:prstGeom prst="roundRect">
            <a:avLst>
              <a:gd name="adj" fmla="val 11628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PF Analysis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Streamlit page</a:t>
            </a:r>
            <a:endParaRPr lang="en-US" sz="1100" dirty="0"/>
          </a:p>
        </p:txBody>
      </p:sp>
      <p:sp>
        <p:nvSpPr>
          <p:cNvPr id="16" name="Module Comparison"/>
          <p:cNvSpPr txBox="1"/>
          <p:nvPr/>
        </p:nvSpPr>
        <p:spPr>
          <a:xfrm>
            <a:off x="8477794" y="1618488"/>
            <a:ext cx="1466959" cy="393192"/>
          </a:xfrm>
          <a:prstGeom prst="roundRect">
            <a:avLst>
              <a:gd name="adj" fmla="val 11628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Comparison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Streamlit page</a:t>
            </a:r>
            <a:endParaRPr lang="en-US" sz="1100" dirty="0"/>
          </a:p>
        </p:txBody>
      </p:sp>
      <p:sp>
        <p:nvSpPr>
          <p:cNvPr id="17" name="Module History"/>
          <p:cNvSpPr txBox="1"/>
          <p:nvPr/>
        </p:nvSpPr>
        <p:spPr>
          <a:xfrm>
            <a:off x="10036193" y="1618488"/>
            <a:ext cx="1466959" cy="393192"/>
          </a:xfrm>
          <a:prstGeom prst="roundRect">
            <a:avLst>
              <a:gd name="adj" fmla="val 11628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History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Streamlit page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2103120"/>
            <a:ext cx="0" cy="25603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596128" y="2103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user actions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80960" y="2103120"/>
            <a:ext cx="0" cy="25603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21" name="Text 19"/>
          <p:cNvSpPr txBox="1"/>
          <p:nvPr/>
        </p:nvSpPr>
        <p:spPr>
          <a:xfrm>
            <a:off x="7790688" y="2103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charts · results</a:t>
            </a:r>
            <a:endParaRPr lang="en-US" sz="1000" dirty="0"/>
          </a:p>
        </p:txBody>
      </p:sp>
      <p:sp>
        <p:nvSpPr>
          <p:cNvPr id="22" name="Group APPLICATION CONTROL"/>
          <p:cNvSpPr/>
          <p:nvPr/>
        </p:nvSpPr>
        <p:spPr>
          <a:xfrm>
            <a:off x="548640" y="2359152"/>
            <a:ext cx="11091672" cy="777240"/>
          </a:xfrm>
          <a:prstGeom prst="roundRect">
            <a:avLst>
              <a:gd name="adj" fmla="val 8235"/>
            </a:avLst>
          </a:prstGeom>
          <a:solidFill>
            <a:schemeClr val="accent4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2432304"/>
            <a:ext cx="10817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chemeClr val="tx2"/>
                </a:solidFill>
              </a:rPr>
              <a:t>02  APPLICATION CONTROL</a:t>
            </a:r>
            <a:r>
              <a:rPr lang="en-US" sz="1000" kern="0" spc="50" dirty="0">
                <a:solidFill>
                  <a:schemeClr val="accent3"/>
                </a:solidFill>
              </a:rPr>
              <a:t>   ExperimentManager is the facade: start · stop · finalise · persist</a:t>
            </a:r>
            <a:endParaRPr lang="en-US" sz="1000" dirty="0"/>
          </a:p>
        </p:txBody>
      </p:sp>
      <p:sp>
        <p:nvSpPr>
          <p:cNvPr id="24" name="Module ExperimentManager"/>
          <p:cNvSpPr txBox="1"/>
          <p:nvPr/>
        </p:nvSpPr>
        <p:spPr>
          <a:xfrm>
            <a:off x="685800" y="2651760"/>
            <a:ext cx="2498598" cy="393192"/>
          </a:xfrm>
          <a:prstGeom prst="roundRect">
            <a:avLst>
              <a:gd name="adj" fmla="val 11628"/>
            </a:avLst>
          </a:prstGeom>
          <a:solidFill>
            <a:schemeClr val="tx1"/>
          </a:solidFill>
          <a:ln w="6350">
            <a:solidFill>
              <a:schemeClr val="tx1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1"/>
                </a:solidFill>
              </a:rPr>
              <a:t>ExperimentManager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6"/>
                </a:solidFill>
              </a:rPr>
              <a:t>experiment_manager.py</a:t>
            </a:r>
            <a:endParaRPr lang="en-US" sz="1100" dirty="0"/>
          </a:p>
        </p:txBody>
      </p:sp>
      <p:sp>
        <p:nvSpPr>
          <p:cNvPr id="25" name="Module validate_config()"/>
          <p:cNvSpPr txBox="1"/>
          <p:nvPr/>
        </p:nvSpPr>
        <p:spPr>
          <a:xfrm>
            <a:off x="3458718" y="2651760"/>
            <a:ext cx="2498598" cy="393192"/>
          </a:xfrm>
          <a:prstGeom prst="roundRect">
            <a:avLst>
              <a:gd name="adj" fmla="val 11628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validate_config()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Input guard</a:t>
            </a:r>
            <a:endParaRPr lang="en-US" sz="1100" dirty="0"/>
          </a:p>
        </p:txBody>
      </p:sp>
      <p:sp>
        <p:nvSpPr>
          <p:cNvPr id="26" name="Module WorkloadRunner"/>
          <p:cNvSpPr txBox="1"/>
          <p:nvPr/>
        </p:nvSpPr>
        <p:spPr>
          <a:xfrm>
            <a:off x="6231636" y="2651760"/>
            <a:ext cx="2498598" cy="393192"/>
          </a:xfrm>
          <a:prstGeom prst="roundRect">
            <a:avLst>
              <a:gd name="adj" fmla="val 11628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WorkloadRunner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workload_runner.py</a:t>
            </a:r>
            <a:endParaRPr lang="en-US" sz="1100" dirty="0"/>
          </a:p>
        </p:txBody>
      </p:sp>
      <p:sp>
        <p:nvSpPr>
          <p:cNvPr id="27" name="Module ExperimentDB"/>
          <p:cNvSpPr txBox="1"/>
          <p:nvPr/>
        </p:nvSpPr>
        <p:spPr>
          <a:xfrm>
            <a:off x="9004554" y="2651760"/>
            <a:ext cx="2498598" cy="393192"/>
          </a:xfrm>
          <a:prstGeom prst="roundRect">
            <a:avLst>
              <a:gd name="adj" fmla="val 11628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ExperimentDB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database.py</a:t>
            </a:r>
            <a:endParaRPr lang="en-US" sz="1100" dirty="0"/>
          </a:p>
        </p:txBody>
      </p:sp>
      <p:sp>
        <p:nvSpPr>
          <p:cNvPr id="28" name="Group COLLECTORS"/>
          <p:cNvSpPr/>
          <p:nvPr/>
        </p:nvSpPr>
        <p:spPr>
          <a:xfrm>
            <a:off x="548640" y="3392424"/>
            <a:ext cx="3200400" cy="2084832"/>
          </a:xfrm>
          <a:prstGeom prst="roundRect">
            <a:avLst>
              <a:gd name="adj" fmla="val 3070"/>
            </a:avLst>
          </a:prstGeom>
          <a:solidFill>
            <a:schemeClr val="accent4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4655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chemeClr val="tx2"/>
                </a:solidFill>
              </a:rPr>
              <a:t>03  COLLECTORS</a:t>
            </a:r>
            <a:r>
              <a:rPr lang="en-US" sz="1000" kern="0" spc="50" dirty="0">
                <a:solidFill>
                  <a:schemeClr val="accent3"/>
                </a:solidFill>
              </a:rPr>
              <a:t>   Windows APIs</a:t>
            </a:r>
            <a:endParaRPr lang="en-US" sz="1000" dirty="0"/>
          </a:p>
        </p:txBody>
      </p:sp>
      <p:sp>
        <p:nvSpPr>
          <p:cNvPr id="30" name="Module system_memory.py"/>
          <p:cNvSpPr txBox="1"/>
          <p:nvPr/>
        </p:nvSpPr>
        <p:spPr>
          <a:xfrm>
            <a:off x="685800" y="3685032"/>
            <a:ext cx="2926080" cy="530352"/>
          </a:xfrm>
          <a:prstGeom prst="roundRect">
            <a:avLst>
              <a:gd name="adj" fmla="val 8621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system_memory.py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GlobalMemoryStatusEx · GetPerformanceInfo</a:t>
            </a:r>
            <a:endParaRPr lang="en-US" sz="1100" dirty="0"/>
          </a:p>
        </p:txBody>
      </p:sp>
      <p:sp>
        <p:nvSpPr>
          <p:cNvPr id="31" name="Module process_memory.py"/>
          <p:cNvSpPr txBox="1"/>
          <p:nvPr/>
        </p:nvSpPr>
        <p:spPr>
          <a:xfrm>
            <a:off x="685800" y="4288536"/>
            <a:ext cx="2926080" cy="530352"/>
          </a:xfrm>
          <a:prstGeom prst="roundRect">
            <a:avLst>
              <a:gd name="adj" fmla="val 8621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process_memory.py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GetProcessMemoryInfo · PMCEX structure</a:t>
            </a:r>
            <a:endParaRPr lang="en-US" sz="1100" dirty="0"/>
          </a:p>
        </p:txBody>
      </p:sp>
      <p:sp>
        <p:nvSpPr>
          <p:cNvPr id="32" name="Module page_faults.py"/>
          <p:cNvSpPr txBox="1"/>
          <p:nvPr/>
        </p:nvSpPr>
        <p:spPr>
          <a:xfrm>
            <a:off x="685800" y="4892040"/>
            <a:ext cx="2926080" cy="530352"/>
          </a:xfrm>
          <a:prstGeom prst="roundRect">
            <a:avLst>
              <a:gd name="adj" fmla="val 8621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page_faults.py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PageFaultMonitor · interpret_delta()</a:t>
            </a:r>
            <a:endParaRPr lang="en-US" sz="1100" dirty="0"/>
          </a:p>
        </p:txBody>
      </p:sp>
      <p:sp>
        <p:nvSpPr>
          <p:cNvPr id="33" name="Group WORKER PROCESS"/>
          <p:cNvSpPr/>
          <p:nvPr/>
        </p:nvSpPr>
        <p:spPr>
          <a:xfrm>
            <a:off x="3931920" y="3392424"/>
            <a:ext cx="2651760" cy="2084832"/>
          </a:xfrm>
          <a:prstGeom prst="roundRect">
            <a:avLst>
              <a:gd name="adj" fmla="val 3070"/>
            </a:avLst>
          </a:prstGeom>
          <a:solidFill>
            <a:schemeClr val="accent5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4069080" y="34655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chemeClr val="tx2"/>
                </a:solidFill>
              </a:rPr>
              <a:t>03  WORKER PROCESS</a:t>
            </a:r>
            <a:endParaRPr lang="en-US" sz="1000" dirty="0"/>
          </a:p>
        </p:txBody>
      </p:sp>
      <p:sp>
        <p:nvSpPr>
          <p:cNvPr id="35" name="Module allocation()"/>
          <p:cNvSpPr txBox="1"/>
          <p:nvPr/>
        </p:nvSpPr>
        <p:spPr>
          <a:xfrm>
            <a:off x="4069080" y="3703320"/>
            <a:ext cx="2377440" cy="301752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allocation()</a:t>
            </a:r>
            <a:r>
              <a:rPr lang="en-US" sz="1000" dirty="0">
                <a:solidFill>
                  <a:schemeClr val="accent3"/>
                </a:solidFill>
              </a:rPr>
              <a:t>   bytearray alloc</a:t>
            </a:r>
            <a:endParaRPr lang="en-US" sz="1100" dirty="0"/>
          </a:p>
        </p:txBody>
      </p:sp>
      <p:sp>
        <p:nvSpPr>
          <p:cNvPr id="36" name="Module sequential()"/>
          <p:cNvSpPr txBox="1"/>
          <p:nvPr/>
        </p:nvSpPr>
        <p:spPr>
          <a:xfrm>
            <a:off x="4069080" y="4046220"/>
            <a:ext cx="2377440" cy="301752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sequential()</a:t>
            </a:r>
            <a:r>
              <a:rPr lang="en-US" sz="1000" dirty="0">
                <a:solidFill>
                  <a:schemeClr val="accent3"/>
                </a:solidFill>
              </a:rPr>
              <a:t>   page-by-page</a:t>
            </a:r>
            <a:endParaRPr lang="en-US" sz="1100" dirty="0"/>
          </a:p>
        </p:txBody>
      </p:sp>
      <p:sp>
        <p:nvSpPr>
          <p:cNvPr id="37" name="Module repeated()"/>
          <p:cNvSpPr txBox="1"/>
          <p:nvPr/>
        </p:nvSpPr>
        <p:spPr>
          <a:xfrm>
            <a:off x="4069080" y="4389120"/>
            <a:ext cx="2377440" cy="301752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repeated()</a:t>
            </a:r>
            <a:r>
              <a:rPr lang="en-US" sz="1000" dirty="0">
                <a:solidFill>
                  <a:schemeClr val="accent3"/>
                </a:solidFill>
              </a:rPr>
              <a:t>   multi-pass XOR</a:t>
            </a:r>
            <a:endParaRPr lang="en-US" sz="1100" dirty="0"/>
          </a:p>
        </p:txBody>
      </p:sp>
      <p:sp>
        <p:nvSpPr>
          <p:cNvPr id="38" name="Module random()"/>
          <p:cNvSpPr txBox="1"/>
          <p:nvPr/>
        </p:nvSpPr>
        <p:spPr>
          <a:xfrm>
            <a:off x="4069080" y="4732020"/>
            <a:ext cx="2377440" cy="301752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random()</a:t>
            </a:r>
            <a:r>
              <a:rPr lang="en-US" sz="1000" dirty="0">
                <a:solidFill>
                  <a:schemeClr val="accent3"/>
                </a:solidFill>
              </a:rPr>
              <a:t>   shuffled pages</a:t>
            </a:r>
            <a:endParaRPr lang="en-US" sz="1100" dirty="0"/>
          </a:p>
        </p:txBody>
      </p:sp>
      <p:sp>
        <p:nvSpPr>
          <p:cNvPr id="39" name="Module release()"/>
          <p:cNvSpPr txBox="1"/>
          <p:nvPr/>
        </p:nvSpPr>
        <p:spPr>
          <a:xfrm>
            <a:off x="4069080" y="5074920"/>
            <a:ext cx="2377440" cy="301752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release()</a:t>
            </a:r>
            <a:r>
              <a:rPr lang="en-US" sz="1000" dirty="0">
                <a:solidFill>
                  <a:schemeClr val="accent3"/>
                </a:solidFill>
              </a:rPr>
              <a:t>   alloc → touch → del</a:t>
            </a:r>
            <a:endParaRPr lang="en-US" sz="1100" dirty="0"/>
          </a:p>
        </p:txBody>
      </p:sp>
      <p:sp>
        <p:nvSpPr>
          <p:cNvPr id="40" name="Group ANALYSIS"/>
          <p:cNvSpPr/>
          <p:nvPr/>
        </p:nvSpPr>
        <p:spPr>
          <a:xfrm>
            <a:off x="6766560" y="3392424"/>
            <a:ext cx="2340864" cy="2084832"/>
          </a:xfrm>
          <a:prstGeom prst="roundRect">
            <a:avLst>
              <a:gd name="adj" fmla="val 3070"/>
            </a:avLst>
          </a:prstGeom>
          <a:solidFill>
            <a:schemeClr val="accent4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03720" y="3465576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chemeClr val="tx2"/>
                </a:solidFill>
              </a:rPr>
              <a:t>04  ANALYSIS</a:t>
            </a:r>
            <a:endParaRPr lang="en-US" sz="1000" dirty="0"/>
          </a:p>
        </p:txBody>
      </p:sp>
      <p:sp>
        <p:nvSpPr>
          <p:cNvPr id="42" name="Module metrics.py"/>
          <p:cNvSpPr txBox="1"/>
          <p:nvPr/>
        </p:nvSpPr>
        <p:spPr>
          <a:xfrm>
            <a:off x="6903720" y="3685032"/>
            <a:ext cx="2066544" cy="530352"/>
          </a:xfrm>
          <a:prstGeom prst="roundRect">
            <a:avLst>
              <a:gd name="adj" fmla="val 8621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metrics.py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counter_delta · rate · format helpers</a:t>
            </a:r>
            <a:endParaRPr lang="en-US" sz="1100" dirty="0"/>
          </a:p>
        </p:txBody>
      </p:sp>
      <p:sp>
        <p:nvSpPr>
          <p:cNvPr id="43" name="Module comparison.py"/>
          <p:cNvSpPr txBox="1"/>
          <p:nvPr/>
        </p:nvSpPr>
        <p:spPr>
          <a:xfrm>
            <a:off x="6903720" y="4288536"/>
            <a:ext cx="2066544" cy="530352"/>
          </a:xfrm>
          <a:prstGeom prst="roundRect">
            <a:avLst>
              <a:gd name="adj" fmla="val 8621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comparison.py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compare_experiments · diff_summary</a:t>
            </a:r>
            <a:endParaRPr lang="en-US" sz="1100" dirty="0"/>
          </a:p>
        </p:txBody>
      </p:sp>
      <p:sp>
        <p:nvSpPr>
          <p:cNvPr id="44" name="Module Plotly charts"/>
          <p:cNvSpPr txBox="1"/>
          <p:nvPr/>
        </p:nvSpPr>
        <p:spPr>
          <a:xfrm>
            <a:off x="6903720" y="4892040"/>
            <a:ext cx="2066544" cy="530352"/>
          </a:xfrm>
          <a:prstGeom prst="roundRect">
            <a:avLst>
              <a:gd name="adj" fmla="val 8621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Plotly charts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Working Set · Avail · Fault Δ · Overlay</a:t>
            </a:r>
            <a:endParaRPr lang="en-US" sz="1100" dirty="0"/>
          </a:p>
        </p:txBody>
      </p:sp>
      <p:sp>
        <p:nvSpPr>
          <p:cNvPr id="45" name="Group STORAGE &amp; EXPORT"/>
          <p:cNvSpPr/>
          <p:nvPr/>
        </p:nvSpPr>
        <p:spPr>
          <a:xfrm>
            <a:off x="9326880" y="3392424"/>
            <a:ext cx="2313432" cy="2084832"/>
          </a:xfrm>
          <a:prstGeom prst="roundRect">
            <a:avLst>
              <a:gd name="adj" fmla="val 3070"/>
            </a:avLst>
          </a:prstGeom>
          <a:solidFill>
            <a:schemeClr val="accent4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464040" y="3465576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chemeClr val="tx2"/>
                </a:solidFill>
              </a:rPr>
              <a:t>04  STORAGE &amp; EXPORT</a:t>
            </a:r>
            <a:endParaRPr lang="en-US" sz="1000" dirty="0"/>
          </a:p>
        </p:txBody>
      </p:sp>
      <p:sp>
        <p:nvSpPr>
          <p:cNvPr id="47" name="Module database.py"/>
          <p:cNvSpPr txBox="1"/>
          <p:nvPr/>
        </p:nvSpPr>
        <p:spPr>
          <a:xfrm>
            <a:off x="9464040" y="3685032"/>
            <a:ext cx="2039112" cy="530352"/>
          </a:xfrm>
          <a:prstGeom prst="roundRect">
            <a:avLst>
              <a:gd name="adj" fmla="val 8621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database.py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SQLite WAL · experiments + samples</a:t>
            </a:r>
            <a:endParaRPr lang="en-US" sz="1100" dirty="0"/>
          </a:p>
        </p:txBody>
      </p:sp>
      <p:sp>
        <p:nvSpPr>
          <p:cNvPr id="48" name="Module export.py"/>
          <p:cNvSpPr txBox="1"/>
          <p:nvPr/>
        </p:nvSpPr>
        <p:spPr>
          <a:xfrm>
            <a:off x="9464040" y="4288536"/>
            <a:ext cx="2039112" cy="530352"/>
          </a:xfrm>
          <a:prstGeom prst="roundRect">
            <a:avLst>
              <a:gd name="adj" fmla="val 8621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export.py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samples_to_csv · summaries_to_csv</a:t>
            </a:r>
            <a:endParaRPr lang="en-US" sz="1100" dirty="0"/>
          </a:p>
        </p:txBody>
      </p:sp>
      <p:sp>
        <p:nvSpPr>
          <p:cNvPr id="49" name="Module Outputs"/>
          <p:cNvSpPr txBox="1"/>
          <p:nvPr/>
        </p:nvSpPr>
        <p:spPr>
          <a:xfrm>
            <a:off x="9464040" y="4892040"/>
            <a:ext cx="2039112" cy="530352"/>
          </a:xfrm>
          <a:prstGeom prst="roundRect">
            <a:avLst>
              <a:gd name="adj" fmla="val 8621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tx1"/>
                </a:solidFill>
              </a:rPr>
              <a:t>Outputs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memory_analyzer.db · CSV downloads (Streamlit button)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371600" y="3136392"/>
            <a:ext cx="0" cy="25603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1481328" y="3136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collect_*()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480560" y="3136392"/>
            <a:ext cx="0" cy="25603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4590288" y="3136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spawn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852160" y="3136392"/>
            <a:ext cx="0" cy="25603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55" name="Text 53"/>
          <p:cNvSpPr txBox="1"/>
          <p:nvPr/>
        </p:nvSpPr>
        <p:spPr>
          <a:xfrm>
            <a:off x="5961888" y="31363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Queue (samples)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315200" y="3136392"/>
            <a:ext cx="0" cy="25603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7424928" y="3136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metrics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875520" y="3136392"/>
            <a:ext cx="0" cy="25603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9985248" y="3136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persist</a:t>
            </a:r>
            <a:endParaRPr lang="en-US" sz="1000" dirty="0"/>
          </a:p>
        </p:txBody>
      </p:sp>
      <p:sp>
        <p:nvSpPr>
          <p:cNvPr id="60" name="Group WINDOWS 10/11 KERNEL"/>
          <p:cNvSpPr/>
          <p:nvPr/>
        </p:nvSpPr>
        <p:spPr>
          <a:xfrm>
            <a:off x="548640" y="5751576"/>
            <a:ext cx="11091672" cy="777240"/>
          </a:xfrm>
          <a:prstGeom prst="roundRect">
            <a:avLst>
              <a:gd name="adj" fmla="val 8235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85800" y="5824728"/>
            <a:ext cx="10817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chemeClr val="accent2"/>
                </a:solidFill>
              </a:rPr>
              <a:t>  WINDOWS 10/11 KERNEL</a:t>
            </a:r>
            <a:endParaRPr lang="en-US" sz="1000" dirty="0"/>
          </a:p>
        </p:txBody>
      </p:sp>
      <p:sp>
        <p:nvSpPr>
          <p:cNvPr id="62" name="Module kernel32.dll"/>
          <p:cNvSpPr txBox="1"/>
          <p:nvPr/>
        </p:nvSpPr>
        <p:spPr>
          <a:xfrm>
            <a:off x="685800" y="6025896"/>
            <a:ext cx="2743200" cy="411480"/>
          </a:xfrm>
          <a:prstGeom prst="roundRect">
            <a:avLst>
              <a:gd name="adj" fmla="val 11111"/>
            </a:avLst>
          </a:prstGeom>
          <a:noFill/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1"/>
                </a:solidFill>
              </a:rPr>
              <a:t>kernel32.dll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6"/>
                </a:solidFill>
              </a:rPr>
              <a:t>GlobalMemoryStatusEx · GetSystemInfo</a:t>
            </a:r>
            <a:endParaRPr lang="en-US" sz="1100" dirty="0"/>
          </a:p>
        </p:txBody>
      </p:sp>
      <p:sp>
        <p:nvSpPr>
          <p:cNvPr id="63" name="Module psapi.dll"/>
          <p:cNvSpPr txBox="1"/>
          <p:nvPr/>
        </p:nvSpPr>
        <p:spPr>
          <a:xfrm>
            <a:off x="3611880" y="6025896"/>
            <a:ext cx="2926080" cy="411480"/>
          </a:xfrm>
          <a:prstGeom prst="roundRect">
            <a:avLst>
              <a:gd name="adj" fmla="val 11111"/>
            </a:avLst>
          </a:prstGeom>
          <a:noFill/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1"/>
                </a:solidFill>
              </a:rPr>
              <a:t>psapi.dll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6"/>
                </a:solidFill>
              </a:rPr>
              <a:t>GetPerformanceInfo · GetProcessMemoryInfo</a:t>
            </a:r>
            <a:endParaRPr lang="en-US" sz="1100" dirty="0"/>
          </a:p>
        </p:txBody>
      </p:sp>
      <p:sp>
        <p:nvSpPr>
          <p:cNvPr id="64" name="Module Memory Manager"/>
          <p:cNvSpPr txBox="1"/>
          <p:nvPr/>
        </p:nvSpPr>
        <p:spPr>
          <a:xfrm>
            <a:off x="6720840" y="6025896"/>
            <a:ext cx="4663440" cy="411480"/>
          </a:xfrm>
          <a:prstGeom prst="roundRect">
            <a:avLst>
              <a:gd name="adj" fmla="val 11111"/>
            </a:avLst>
          </a:prstGeom>
          <a:noFill/>
          <a:ln w="6350">
            <a:solidFill>
              <a:schemeClr val="accent6"/>
            </a:solidFill>
          </a:ln>
        </p:spPr>
        <p:txBody>
          <a:bodyPr wrap="square" lIns="114300" tIns="12700" rIns="63500" bIns="127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1"/>
                </a:solidFill>
              </a:rPr>
              <a:t>Memory Manager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accent6"/>
                </a:solidFill>
              </a:rPr>
              <a:t>Demand-paging · Working-set trimming · Pagefile · Standby list · Zero-page list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371600" y="5477256"/>
            <a:ext cx="0" cy="2743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66" name="Text 64"/>
          <p:cNvSpPr txBox="1"/>
          <p:nvPr/>
        </p:nvSpPr>
        <p:spPr>
          <a:xfrm>
            <a:off x="1481328" y="5477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ctypes bridge · no admin needed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120640" y="5477256"/>
            <a:ext cx="0" cy="2743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8" name="Text 66"/>
          <p:cNvSpPr txBox="1"/>
          <p:nvPr/>
        </p:nvSpPr>
        <p:spPr>
          <a:xfrm>
            <a:off x="5230368" y="54772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page touches → demand-paging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3685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chemeClr val="tx1"/>
                </a:solidFill>
              </a:rPr>
              <a:t>WORKFLOW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</a:rPr>
              <a:t>Application workflow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Step-by-step flow: launch → data collection → experiment → analysis → export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1091153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3246120"/>
            <a:ext cx="0" cy="3657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645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kern="0" spc="100" dirty="0">
                <a:solidFill>
                  <a:schemeClr val="tx2"/>
                </a:solidFill>
              </a:rPr>
              <a:t>STEP 01</a:t>
            </a:r>
            <a:endParaRPr lang="en-US" sz="1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Launch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streamlit run app.py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localhost:8501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ExperimentManager initialised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84932" y="3611880"/>
            <a:ext cx="0" cy="3657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96212" y="40233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kern="0" spc="100" dirty="0">
                <a:solidFill>
                  <a:schemeClr val="tx2"/>
                </a:solidFill>
              </a:rPr>
              <a:t>STEP 02</a:t>
            </a:r>
            <a:endParaRPr lang="en-US" sz="1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Dashboard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collect_system_memory()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GlobalMemoryStatusEx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GetPerformanceInfo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Gauges + charts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9664" y="3246120"/>
            <a:ext cx="0" cy="3657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80944" y="1645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kern="0" spc="100" dirty="0">
                <a:solidFill>
                  <a:schemeClr val="tx2"/>
                </a:solidFill>
              </a:rPr>
              <a:t>STEP 03</a:t>
            </a:r>
            <a:endParaRPr lang="en-US" sz="1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Inspect PID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User selects PID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collect_process_memory()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GetProcessMemoryInfo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Working set shown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54396" y="3611880"/>
            <a:ext cx="0" cy="3657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65676" y="40233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kern="0" spc="100" dirty="0">
                <a:solidFill>
                  <a:schemeClr val="tx2"/>
                </a:solidFill>
              </a:rPr>
              <a:t>STEP 04</a:t>
            </a:r>
            <a:endParaRPr lang="en-US" sz="1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Config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Pick workload A–E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Set alloc · duration · interval · seed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validate_config()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39128" y="3246120"/>
            <a:ext cx="0" cy="3657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50408" y="1645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kern="0" spc="100" dirty="0">
                <a:solidFill>
                  <a:schemeClr val="tx2"/>
                </a:solidFill>
              </a:rPr>
              <a:t>STEP 05</a:t>
            </a:r>
            <a:endParaRPr lang="en-US" sz="1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Run Workload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WorkloadRunner.start()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Spawns subprocess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Queue drainer thread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23860" y="3611880"/>
            <a:ext cx="0" cy="3657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35140" y="40233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kern="0" spc="100" dirty="0">
                <a:solidFill>
                  <a:schemeClr val="tx2"/>
                </a:solidFill>
              </a:rPr>
              <a:t>STEP 06</a:t>
            </a:r>
            <a:endParaRPr lang="en-US" sz="1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Monitor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samples → session_state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_snapshot() per tick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page_fault_count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working_set_mb · Plotly rerun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08592" y="3246120"/>
            <a:ext cx="0" cy="3657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19872" y="1645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kern="0" spc="100" dirty="0">
                <a:solidFill>
                  <a:schemeClr val="tx2"/>
                </a:solidFill>
              </a:rPr>
              <a:t>STEP 07</a:t>
            </a:r>
            <a:endParaRPr lang="en-US" sz="1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Finalise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finalise() called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Summary → SQLite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Fault Δ computed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Interpretation shown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593324" y="3611880"/>
            <a:ext cx="0" cy="3657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04604" y="40233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kern="0" spc="100" dirty="0">
                <a:solidFill>
                  <a:schemeClr val="tx2"/>
                </a:solidFill>
              </a:rPr>
              <a:t>STEP 08</a:t>
            </a:r>
            <a:endParaRPr lang="en-US" sz="1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Export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Comparison page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Overlay charts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CSV download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3"/>
                </a:solidFill>
              </a:rPr>
              <a:t>st.download_button()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2852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tx2"/>
                </a:solidFill>
              </a:rPr>
              <a:t>SUBPROCESS ARCHITECTURE · STEPS 5–6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577840"/>
            <a:ext cx="251460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01600" tIns="50800" rIns="762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WorkloadRunner spawns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multiprocessing.Process(daemon=True)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91256" y="5966460"/>
            <a:ext cx="33467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261299" y="5577840"/>
            <a:ext cx="150876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01600" tIns="50800" rIns="762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Workload function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runs independently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6635" y="5966460"/>
            <a:ext cx="33467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876678" y="5577840"/>
            <a:ext cx="160020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01600" tIns="50800" rIns="762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Samples emitted via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multiprocessing.Queue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13454" y="5966460"/>
            <a:ext cx="33467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6583497" y="5577840"/>
            <a:ext cx="178308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01600" tIns="50800" rIns="762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Background reader thread drains queue into session_state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403153" y="5966460"/>
            <a:ext cx="33467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8473196" y="5577840"/>
            <a:ext cx="173736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01600" tIns="50800" rIns="762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stop() calls process.terminate() + join(timeout=5)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247132" y="5966460"/>
            <a:ext cx="33467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10317175" y="5577840"/>
            <a:ext cx="123444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6350">
            <a:solidFill>
              <a:schemeClr val="accent6"/>
            </a:solidFill>
          </a:ln>
        </p:spPr>
        <p:txBody>
          <a:bodyPr wrap="square" lIns="101600" tIns="50800" rIns="762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Cancelled experiments marked in SQLite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3685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chemeClr val="tx1"/>
                </a:solidFill>
              </a:rPr>
              <a:t>MODULES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</a:rPr>
              <a:t>Modules &amp; technologies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Complete module inventory with responsibilities and technology mapping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00" dirty="0">
                          <a:solidFill>
                            <a:schemeClr val="tx2"/>
                          </a:solidFill>
                        </a:rPr>
                        <a:t>MODULE / FILE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00" dirty="0">
                          <a:solidFill>
                            <a:schemeClr val="tx2"/>
                          </a:solidFill>
                        </a:rPr>
                        <a:t>RESPONSIBILITY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100" dirty="0">
                          <a:solidFill>
                            <a:schemeClr val="tx2"/>
                          </a:solidFill>
                        </a:rPr>
                        <a:t>KEY API / LIBRARY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collectors/system_memory.py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Collects RAM, pagefile, virtual memory, CPU, process/thread counts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accent3"/>
                          </a:solidFill>
                        </a:rPr>
                        <a:t>ctypes · GlobalMemoryStatusEx · GetPerformanceInfo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collectors/process_memory.py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Per-process working set, private bytes, PageFaultCount, pool quota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accent3"/>
                          </a:solidFill>
                        </a:rPr>
                        <a:t>ctypes · GetProcessMemoryInfo · PROCESS_MEMORY_COUNTERS_EX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collectors/page_faults.py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PageFaultMonitor class, PageFaultSeries, interpret_page_fault_delta()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accent3"/>
                          </a:solidFill>
                        </a:rPr>
                        <a:t>Python dataclasses · process_memory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experiments/memory_workloads.py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 workload functions running in worker process, emitting Queue samples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accent3"/>
                          </a:solidFill>
                        </a:rPr>
                        <a:t>multiprocessing.Queue · bytearray · ctypes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experiments/workload_runner.py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WorkloadRunner: subprocess lifecycle, queue drain thread, cancellation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accent3"/>
                          </a:solidFill>
                        </a:rPr>
                        <a:t>multiprocessing.Process · threading.Thread · threading.Event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experiments/experiment_manager.py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Facade: start/stop/finalise/persist, page-fault interpretation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accent3"/>
                          </a:solidFill>
                        </a:rPr>
                        <a:t>WorkloadRunner · ExperimentDB · interpret_page_fault_delta()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analysis/metrics.py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Unit conversion, counter_delta, counter_rate, counter catalogue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accent3"/>
                          </a:solidFill>
                        </a:rPr>
                        <a:t>Pure Python (no OS deps) — fully unit-testable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analysis/comparison.py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compare_experiments(), diff_summary(), compatibility warnings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accent3"/>
                          </a:solidFill>
                        </a:rPr>
                        <a:t>Pure Python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storage/database.py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SQLite schema, experiment CRUD, sample insert, cascade delete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accent3"/>
                          </a:solidFill>
                        </a:rPr>
                        <a:t>sqlite3 WAL mode · json · contextmanager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storage/export.py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samples_to_csv(), summaries_to_csv() for download buttons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accent3"/>
                          </a:solidFill>
                        </a:rPr>
                        <a:t>csv.DictWriter · io.StringIO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ui/*.py  (7 pages)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Streamlit pages: dashboard · inspector · experiments · PF · compare · history · about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accent3"/>
                          </a:solidFill>
                        </a:rPr>
                        <a:t>Streamlit · Plotly · pandas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config.py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Global constants: alloc limits, workload names, colours, DB path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accent3"/>
                          </a:solidFill>
                        </a:rPr>
                        <a:t>os.path</a:t>
                      </a:r>
                      <a:endParaRPr lang="en-US" sz="1000" dirty="0"/>
                    </a:p>
                  </a:txBody>
                  <a:tcPr marL="0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7150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tx2"/>
                </a:solidFill>
              </a:rPr>
              <a:t>TECHNOLOGY STACK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961888"/>
            <a:ext cx="1138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Python 3.12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Language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852168" y="5961888"/>
            <a:ext cx="1138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Streamlit ≥ 1.32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Web UI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064256" y="5961888"/>
            <a:ext cx="1138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Plotly ≥ 5.19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Interactive charts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276344" y="5961888"/>
            <a:ext cx="1138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psutil ≥ 5.9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Portable metrics</a:t>
            </a:r>
            <a:endParaRPr lang="en-US" sz="1200" dirty="0"/>
          </a:p>
        </p:txBody>
      </p:sp>
      <p:sp>
        <p:nvSpPr>
          <p:cNvPr id="5" name="Text 8"/>
          <p:cNvSpPr txBox="1"/>
          <p:nvPr/>
        </p:nvSpPr>
        <p:spPr>
          <a:xfrm>
            <a:off x="5488432" y="5961888"/>
            <a:ext cx="1138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ctypes (stdlib)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Windows API bridge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700520" y="5961888"/>
            <a:ext cx="1138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sqlite3 (stdlib)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Persistence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912608" y="5961888"/>
            <a:ext cx="1138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csv (stdlib)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Data export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24696" y="5961888"/>
            <a:ext cx="1138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pandas ≥ 2.0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UI DataFrames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0336784" y="5961888"/>
            <a:ext cx="1138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pytest ≥ 8.0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97 tests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28600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dirty="0">
                <a:solidFill>
                  <a:schemeClr val="bg1"/>
                </a:solidFill>
              </a:rPr>
              <a:t>EXPERIMENTS</a:t>
            </a:r>
            <a:endParaRPr lang="en-US" sz="5400" dirty="0"/>
          </a:p>
          <a:p>
            <a:pPr marL="0" indent="0" algn="l">
              <a:buNone/>
            </a:pPr>
            <a:r>
              <a:rPr lang="en-US" sz="5400" dirty="0">
                <a:solidFill>
                  <a:schemeClr val="bg1"/>
                </a:solidFill>
              </a:rPr>
              <a:t>AND RESULTS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276148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PART III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38160" y="3840480"/>
            <a:ext cx="3410712" cy="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3977640"/>
            <a:ext cx="3410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“97 / 97 automated tests actually run and passed — not claimed.”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3685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chemeClr val="tx1"/>
                </a:solidFill>
              </a:rPr>
              <a:t>EXPERIMENTS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</a:rPr>
              <a:t>Memory experiments &amp; analysis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5 controlled workloads — implementation, mechanisms, and expected observations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697480" y="18745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tx2"/>
                </a:solidFill>
              </a:rPr>
              <a:t>METHOD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8745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tx2"/>
                </a:solidFill>
              </a:rPr>
              <a:t>WHY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006840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tx2"/>
                </a:solidFill>
              </a:rPr>
              <a:t>EXPECTED OBSERVATION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1090879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2585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A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Allocation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bytearray(N) — commits virtual memory without deliberately accessing every page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240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3"/>
                </a:solidFill>
              </a:rPr>
              <a:t>Zero-demand faults from OS initialising allocator metadata; virtual size &gt; working set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0068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Fault Δ small; working set grows slowly; large gap between virtual size and WS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916936"/>
            <a:ext cx="1090879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2666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B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0998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Sequential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300837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Writes one byte to each page in address order, stride = page_size (4096 B)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300837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3"/>
                </a:solidFill>
              </a:rPr>
              <a:t>First touch of each page triggers a demand-zero fault; working set rises linearly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30083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Expected Δ ≈ alloc_bytes / page_size (64 MiB → ~16 384 faults); largest Δ of all workloads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685032"/>
            <a:ext cx="1090879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794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C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867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Repeated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37764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Touches all pages once (first pass), then XOR-reads the buffer multiple times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377647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3"/>
                </a:solidFill>
              </a:rPr>
              <a:t>Pass 1 generates max faults; subsequent passes: pages already resident → near-zero extra faults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006840" y="37764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Fault rate drops sharply after pass 1; working set stabilises at full allocation size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453128"/>
            <a:ext cx="1090879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456285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D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46360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Random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697480" y="45445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Shuffled page index list (configurable seed) — accesses pages in pseudorandom order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989320" y="45445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3"/>
                </a:solidFill>
              </a:rPr>
              <a:t>Same total pages touched as sequential → similar fault Δ on uncongested RAM machine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006840" y="454456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On low-RAM systems TLB/cache miss difference observable; seed makes run reproducible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21224"/>
            <a:ext cx="1090879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53309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E</a:t>
            </a:r>
            <a:endParaRPr lang="en-US" sz="2800" dirty="0"/>
          </a:p>
        </p:txBody>
      </p:sp>
      <p:sp>
        <p:nvSpPr>
          <p:cNvPr id="34" name="Text 32"/>
          <p:cNvSpPr txBox="1"/>
          <p:nvPr/>
        </p:nvSpPr>
        <p:spPr>
          <a:xfrm>
            <a:off x="1234440" y="54041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Release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2697480" y="53126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Allocate → touch all pages → hold → del buf → monitor post-release for remaining duration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989320" y="531266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3"/>
                </a:solidFill>
              </a:rPr>
              <a:t>Working set drops after release; system RAM may stay elevated (standby list effect)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9006840" y="531266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Demonstrates that freeing memory ≠ immediate return to OS physical pool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080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Each experiment records per interval:  </a:t>
            </a:r>
            <a:r>
              <a:rPr lang="en-US" sz="1100" dirty="0">
                <a:solidFill>
                  <a:schemeClr val="tx1"/>
                </a:solidFill>
              </a:rPr>
              <a:t>page_fault_count (cumulative) · working_set_mb · virtual_mem_mb · available_ram_mb · system_memory_pct — stored in SQLite, visualised in Plotly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3685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chemeClr val="tx1"/>
                </a:solidFill>
              </a:rPr>
              <a:t>LIVE DEMO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</a:rPr>
              <a:t>GUI &amp; live demonstration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7 Streamlit pages at http://localhost:8501 — runs without admin privileges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tx2"/>
                </a:solidFill>
              </a:rPr>
              <a:t>SEVEN PAGES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39496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4942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Dashboard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RAM/CPU/Pagefile gauges · virtual memory metrics · kernel counters · rolling trend charts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539496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7977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Process Inspector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Search by name · bar chart of WS/private bytes · PageFaultCount · counter definition panel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55264"/>
            <a:ext cx="539496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3101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Memory Experiments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Sidebar config (workload, size, duration) · Start/Stop/Reset · live Plotly charts during run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85616"/>
            <a:ext cx="539496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404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PF Analysis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Fault Δ/rate metrics · dual-axis (WS + cumulative PF) · per-interval Δ bar · limitations panel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315968"/>
            <a:ext cx="539496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3708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Comparison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Multi-select experiments · side-by-side table · bar charts · WS overlay · PF-Δ overlay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539496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90118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History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Summary table (pandas) · individual detail view · CSV download · delete with confirmation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376672"/>
            <a:ext cx="539496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543153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About &amp; Metrics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Windows concepts · page fault type table · full counter catalogue · tech stack table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1874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tx2"/>
                </a:solidFill>
              </a:rPr>
              <a:t>LIVE DEMO SEQUENCE  (~6 MINUTES)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2194560"/>
            <a:ext cx="496519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0" y="228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01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22677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Open Dashboard → observe RAM %, pagefile gauge, trend chart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0" y="2651760"/>
            <a:ext cx="496519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02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27249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Process Inspector → select python.exe → note PageFaultCount value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0" y="3108960"/>
            <a:ext cx="496519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0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03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31821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Experiments → B Sequential, 64 MiB, 12 s → click Start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83680" y="3566160"/>
            <a:ext cx="496519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0" y="3657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36393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Watch live working-set chart rise as pages are faulted in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83680" y="4023360"/>
            <a:ext cx="496519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05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086600" y="40965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After completion → PF Analysis → review fault Δ, rate, interpretation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583680" y="4480560"/>
            <a:ext cx="496519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83680" y="4572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086600" y="45537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Experiments → D Random, same settings → Start and complete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83680" y="4937760"/>
            <a:ext cx="496519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83680" y="5029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07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86600" y="50109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Comparison → select both → overlay charts + fault Δ bar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583680" y="5394960"/>
            <a:ext cx="496519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83680" y="5486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08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086600" y="54681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History → Export All Summaries CSV → verify download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6035040"/>
            <a:ext cx="10908792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63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2"/>
                </a:solidFill>
              </a:rPr>
              <a:t>cd windows-memory-analyzer</a:t>
            </a:r>
            <a:r>
              <a:rPr lang="en-US" sz="1300" dirty="0">
                <a:solidFill>
                  <a:schemeClr val="accent1"/>
                </a:solidFill>
              </a:rPr>
              <a:t>    →    </a:t>
            </a:r>
            <a:r>
              <a:rPr lang="en-US" sz="1300" b="1" dirty="0">
                <a:solidFill>
                  <a:schemeClr val="bg1"/>
                </a:solidFill>
              </a:rPr>
              <a:t>streamlit run app.py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3685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chemeClr val="tx1"/>
                </a:solidFill>
              </a:rPr>
              <a:t>RESULTS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</a:rPr>
              <a:t>Testing, results &amp; limitations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Verified on Windows 11 Home Build 26200 · Python 3.12.1 · 15.4 GiB RAM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dirty="0">
                <a:solidFill>
                  <a:schemeClr val="accent1"/>
                </a:solidFill>
              </a:rPr>
              <a:t>97 / 97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tx2"/>
                </a:solidFill>
              </a:rPr>
              <a:t>AUTOMATED TESTS PASSED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384048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5351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test_metrics.py  (44 tests)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bytes_to_mb/gb conversions, format helpers · counter_delta with DWORD wrap-around · counter_rate with zero/None guards · fault_deltas_from_samples: empty, single, None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776472"/>
            <a:ext cx="384048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84962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test_workloads.py  (15 tests)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validate_config — all 5 workload types valid · boundaries: max alloc, min duration, min interval · reject zero/negative alloc, unknown workload, non-numeric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672584"/>
            <a:ext cx="384048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745736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test_storage.py  (22 tests)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create/get/list/delete experiment · sample add, count, cascade delete · update_summary, update_status, multi-exp isolation · samples_to_csv / summaries_to_csv output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568696"/>
            <a:ext cx="384048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564184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test_comparison.py  (16 tests)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Requires ≥ 2 experiments · compatibility warnings for alloc/duration mismatch · row/chart structure, fault_rate computed from delta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7830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tx2"/>
                </a:solidFill>
              </a:rPr>
              <a:t>VERIFIED RUNTIME RESULTS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103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Windows API smoke test (live)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377440"/>
            <a:ext cx="3200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4140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3"/>
                </a:solidFill>
              </a:rPr>
              <a:t>Total RAM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4140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tx1"/>
                </a:solidFill>
              </a:rPr>
              <a:t>15 775 MiB (15.4 GiB)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624328"/>
            <a:ext cx="3200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26609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3"/>
                </a:solidFill>
              </a:rPr>
              <a:t>Available RAM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6609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tx1"/>
                </a:solidFill>
              </a:rPr>
              <a:t>~7 048 MiB at idle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871216"/>
            <a:ext cx="3200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29077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3"/>
                </a:solidFill>
              </a:rPr>
              <a:t>Page size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29077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tx1"/>
                </a:solidFill>
              </a:rPr>
              <a:t>4 096 B (confirmed)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118104"/>
            <a:ext cx="3200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46320" y="3154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3"/>
                </a:solidFill>
              </a:rPr>
              <a:t>Process count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tx1"/>
                </a:solidFill>
              </a:rPr>
              <a:t>~280 processes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364992"/>
            <a:ext cx="3200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3401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3"/>
                </a:solidFill>
              </a:rPr>
              <a:t>System cache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34015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tx1"/>
                </a:solidFill>
              </a:rPr>
              <a:t>~7 430 MiB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3611880"/>
            <a:ext cx="3200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46320" y="36484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3"/>
                </a:solidFill>
              </a:rPr>
              <a:t>Commit total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364845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tx1"/>
                </a:solidFill>
              </a:rPr>
              <a:t>~13 019 MiB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4114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Self-process (python.exe) test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4389120"/>
            <a:ext cx="3200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46320" y="44256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3"/>
                </a:solidFill>
              </a:rPr>
              <a:t>Working Set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44256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tx1"/>
                </a:solidFill>
              </a:rPr>
              <a:t>22.44 MiB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4636008"/>
            <a:ext cx="3200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46725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3"/>
                </a:solidFill>
              </a:rPr>
              <a:t>PageFaultCount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492240" y="46725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tx1"/>
                </a:solidFill>
              </a:rPr>
              <a:t>20 408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46320" y="4882896"/>
            <a:ext cx="3200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846320" y="49194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3"/>
                </a:solidFill>
              </a:rPr>
              <a:t>Private Bytes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492240" y="49194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tx1"/>
                </a:solidFill>
              </a:rPr>
              <a:t>14.78 MiB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46320" y="5129784"/>
            <a:ext cx="3200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846320" y="51663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3"/>
                </a:solidFill>
              </a:rPr>
              <a:t>Error field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51663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tx1"/>
                </a:solidFill>
              </a:rPr>
              <a:t>None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4846320" y="5486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App health check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846320" y="5760720"/>
            <a:ext cx="3200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846320" y="57972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3"/>
                </a:solidFill>
              </a:rPr>
              <a:t>HTTP GET /healthz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6492240" y="57972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tx1"/>
                </a:solidFill>
              </a:rPr>
              <a:t>200 OK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46320" y="6007608"/>
            <a:ext cx="32004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846320" y="60441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3"/>
                </a:solidFill>
              </a:rPr>
              <a:t>Streamlit localhost:8501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492240" y="60441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tx1"/>
                </a:solidFill>
              </a:rPr>
              <a:t>Running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503920" y="178308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tx2"/>
                </a:solidFill>
              </a:rPr>
              <a:t>KNOWN LIMITATIONS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503920" y="2103120"/>
            <a:ext cx="304495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03920" y="2258568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732520" y="2176272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PageFaultCount does NOT split soft vs hard faults — Windows only via heavier Perf Counters API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503920" y="2724912"/>
            <a:ext cx="304495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503920" y="288036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732520" y="2798064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Counter is 32-bit DWORD — wraps at 2³² faults; handled in code, unlikely in short runs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503920" y="3346704"/>
            <a:ext cx="304495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503920" y="35021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732520" y="3419856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Dashboard auto-refresh sleeps in main thread — avoid during live experiments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503920" y="3968496"/>
            <a:ext cx="304495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503920" y="4123944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8732520" y="4041648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First subprocess spawn ~1 s overhead on Windows (spawn start method, no fork)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503920" y="4590288"/>
            <a:ext cx="304495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503920" y="4745736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8732520" y="4663440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Protected system processes return access-denied — handled gracefully with error field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503920" y="5212080"/>
            <a:ext cx="304495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503920" y="5367528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8732520" y="5285232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Polling-based UI refresh — charts update only on each st.rerun() call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8503920" y="5833872"/>
            <a:ext cx="304495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503920" y="598932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8732520" y="5907024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Allocation capped at min(256 MiB, 10% RAM) — intentionally conservative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274320"/>
            <a:ext cx="3685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chemeClr val="tx1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0" dirty="0">
                <a:solidFill>
                  <a:schemeClr val="tx2"/>
                </a:solidFill>
              </a:rPr>
              <a:t>CONCLUSION &amp; FUTURE SCOPE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What was achieved — and what can be extended next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tx2"/>
                </a:solidFill>
              </a:rPr>
              <a:t>WHAT WAS ACHIEVED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5577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017520"/>
            <a:ext cx="5577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Complete, running Windows memory analysis app — not a prototype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3 native Windows APIs integrated via ctypes without admin privileges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5 controlled workloads (A–E) in isolated subprocesses — UI stays responsive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Per-interval capture: PageFaultCount · Working Set · Private Bytes · Available RAM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Page-fault Δ and fault rate with DWORD wrap-around handling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7 Plotly visualisations: gauges · trends · dual-axis · bar · overlay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SQLite persistence (WAL) + CSV export for summaries and raw samples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Comparison page with compatibility warnings and time-series overlays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97 unit tests — 100% pass — metrics, validation, storage, comparison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Accurate documentation: PageFaultCount ≠ disk reads, throughout UI and tests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2606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tx2"/>
                </a:solidFill>
              </a:rPr>
              <a:t>FUTURE SCOPE  (NOT IMPLEMENTED)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0" y="2880360"/>
            <a:ext cx="459943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0" y="3017520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Hard Fault Separation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Integrate Windows Performance Counters API to separately count hard vs soft faults — the key limitation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593592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ETW Kernel Tracing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Event Tracing for Windows: capture memory events at kernel resolution, sub-millisecond granularity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4169664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Working-Set Breakdown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QueryWorkingSet / NtQueryVirtualMemory to categorise pages by type (private, shared, mapped file)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4745736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Multi-Process Experiments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Concurrent workloads across multiple PIDs to study inter-process memory pressure and eviction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5321808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Statistical Baselines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Record 'golden runs'; flag statistically significant deviations across repeated experiments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5897880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Linux Parity Module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/proc/self/status + perf_event_open() collectors for full cross-OS comparison (complete course scope)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48056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dirty="0">
                <a:solidFill>
                  <a:schemeClr val="tx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434340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kern="0" spc="100" dirty="0">
                <a:solidFill>
                  <a:schemeClr val="tx1"/>
                </a:solidFill>
              </a:rPr>
              <a:t>QUESTIONS WELCOME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863840" y="4754880"/>
            <a:ext cx="3685032" cy="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0" y="4892040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Source: windows-memory-analyzer/</a:t>
            </a:r>
            <a:endParaRPr lang="en-US" sz="1200" dirty="0"/>
          </a:p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streamlit run app.py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erything Built - Minimal Sand">
  <a:themeElements>
    <a:clrScheme name="Everything Built - Minimal Sand">
      <a:dk1>
        <a:srgbClr val="2B2724"/>
      </a:dk1>
      <a:lt1>
        <a:srgbClr val="FBF8F3"/>
      </a:lt1>
      <a:dk2>
        <a:srgbClr val="B8481F"/>
      </a:dk2>
      <a:lt2>
        <a:srgbClr val="D9D1C5"/>
      </a:lt2>
      <a:accent1>
        <a:srgbClr val="E85D33"/>
      </a:accent1>
      <a:accent2>
        <a:srgbClr val="A9C4DB"/>
      </a:accent2>
      <a:accent3>
        <a:srgbClr val="5E544B"/>
      </a:accent3>
      <a:accent4>
        <a:srgbClr val="EFE9DF"/>
      </a:accent4>
      <a:accent5>
        <a:srgbClr val="F2D6C8"/>
      </a:accent5>
      <a:accent6>
        <a:srgbClr val="B8AC9C"/>
      </a:accent6>
      <a:hlink>
        <a:srgbClr val="B8481F"/>
      </a:hlink>
      <a:folHlink>
        <a:srgbClr val="5E544B"/>
      </a:folHlink>
    </a:clrScheme>
    <a:fontScheme name="Everything Built - Minimal San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3310</Words>
  <Application>Microsoft Office PowerPoint</Application>
  <PresentationFormat>Widescreen</PresentationFormat>
  <Paragraphs>498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Everything Built - Minimal Sand</vt:lpstr>
      <vt:lpstr>WINDOWS MEMORY BEHAVIOR AND PAGE-FAULT ANALYZER</vt:lpstr>
      <vt:lpstr>FOUNDATIONS AND PROBLEM</vt:lpstr>
      <vt:lpstr>INTRODUCTION</vt:lpstr>
      <vt:lpstr>Problem statement &amp; objectives</vt:lpstr>
      <vt:lpstr>Operating system memory concepts</vt:lpstr>
      <vt:lpstr>SYSTEM DESIGN</vt:lpstr>
      <vt:lpstr>Proposed system &amp; features</vt:lpstr>
      <vt:lpstr>System architecture</vt:lpstr>
      <vt:lpstr>Application workflow</vt:lpstr>
      <vt:lpstr>Modules &amp; technologies</vt:lpstr>
      <vt:lpstr>EXPERIMENTS AND RESULTS</vt:lpstr>
      <vt:lpstr>Memory experiments &amp; analysis</vt:lpstr>
      <vt:lpstr>GUI &amp; live demonstration</vt:lpstr>
      <vt:lpstr>Testing, results &amp; limitations</vt:lpstr>
      <vt:lpstr>CONCLUSION &amp; FUTURE SCOPE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Memory Behavior and Page-Fault Analyzer</dc:title>
  <dc:subject>PptxGenJS Presentation</dc:subject>
  <dc:creator>Akash S, Homesh Krishnan U, Mohammed Yasir</dc:creator>
  <cp:lastModifiedBy>Mohammed Yasir</cp:lastModifiedBy>
  <cp:revision>1</cp:revision>
  <dcterms:created xsi:type="dcterms:W3CDTF">2026-10-11T04:55:35Z</dcterms:created>
  <dcterms:modified xsi:type="dcterms:W3CDTF">2026-10-11T05:07:28Z</dcterms:modified>
</cp:coreProperties>
</file>